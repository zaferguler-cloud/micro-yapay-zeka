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70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41732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400" b="1" i="0">
                <a:solidFill>
                  <a:srgbClr val="FFFFFF"/>
                </a:solidFill>
                <a:latin typeface="Aptos"/>
              </a:rPr>
              <a:t>GO TO ANT 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240280"/>
            <a:ext cx="105156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700" b="1" i="0">
                <a:solidFill>
                  <a:srgbClr val="FFFFFF"/>
                </a:solidFill>
                <a:latin typeface="Aptos"/>
              </a:rPr>
              <a:t>ÇOMÜ Mikro Yapay Zekâ Ekosistemi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71800"/>
            <a:ext cx="103327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 b="0" i="0">
                <a:solidFill>
                  <a:srgbClr val="DCEEE8"/>
                </a:solidFill>
                <a:latin typeface="Aptos"/>
              </a:rPr>
              <a:t>47.000 öğrenciden kolektif zekâya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840480"/>
            <a:ext cx="10149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500" b="0" i="1">
                <a:solidFill>
                  <a:srgbClr val="FFFFFF"/>
                </a:solidFill>
                <a:latin typeface="Aptos"/>
              </a:rPr>
              <a:t>Karıncalara bak — mikro yapıyı zekânın kolektif gücüne dönüştür.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5806440"/>
            <a:ext cx="8503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 i="0">
                <a:solidFill>
                  <a:srgbClr val="CDE6DE"/>
                </a:solidFill>
                <a:latin typeface="Aptos"/>
              </a:rPr>
              <a:t>Çalışma sunumu · İlk 4 hafta + proje mimarisi önerisi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88136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 i="0">
                <a:solidFill>
                  <a:srgbClr val="0C7058"/>
                </a:solidFill>
                <a:latin typeface="Aptos"/>
              </a:rPr>
              <a:t>1. Projenin ölçeği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024128"/>
            <a:ext cx="106070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 i="0">
                <a:solidFill>
                  <a:srgbClr val="646E73"/>
                </a:solidFill>
                <a:latin typeface="Aptos"/>
              </a:rPr>
              <a:t>Kullanıcının proje vizyonundan hareketle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600200"/>
            <a:ext cx="5166360" cy="1645920"/>
          </a:xfrm>
          <a:prstGeom prst="roundRect">
            <a:avLst/>
          </a:prstGeom>
          <a:solidFill>
            <a:srgbClr val="F2F7F5"/>
          </a:solidFill>
          <a:ln>
            <a:solidFill>
              <a:srgbClr val="D7E2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86968" y="1764792"/>
            <a:ext cx="4764024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700" b="1" i="0">
                <a:solidFill>
                  <a:srgbClr val="0C7058"/>
                </a:solidFill>
                <a:latin typeface="Aptos"/>
              </a:rPr>
              <a:t>47.000 öğrenci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86968" y="2240280"/>
            <a:ext cx="4764024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50" b="0" i="0">
                <a:solidFill>
                  <a:srgbClr val="19272D"/>
                </a:solidFill>
                <a:latin typeface="Aptos"/>
              </a:rPr>
              <a:t>Üniversitenin tamamına yayılan potansiyel katılımcı ağı.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600200"/>
            <a:ext cx="5166360" cy="1645920"/>
          </a:xfrm>
          <a:prstGeom prst="roundRect">
            <a:avLst/>
          </a:prstGeom>
          <a:solidFill>
            <a:srgbClr val="F2F7F5"/>
          </a:solidFill>
          <a:ln>
            <a:solidFill>
              <a:srgbClr val="D7E2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19088" y="1764792"/>
            <a:ext cx="4764024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700" b="1" i="0">
                <a:solidFill>
                  <a:srgbClr val="0C7058"/>
                </a:solidFill>
                <a:latin typeface="Aptos"/>
              </a:rPr>
              <a:t>10–15 kişilik çekirdek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19088" y="2240280"/>
            <a:ext cx="4764024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50" b="0" i="0">
                <a:solidFill>
                  <a:srgbClr val="19272D"/>
                </a:solidFill>
                <a:latin typeface="Aptos"/>
              </a:rPr>
              <a:t>Yönetim, koordinasyon, etik, veri ve dış paydaş ilişkileri için küçük merkez.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3566160"/>
            <a:ext cx="5166360" cy="1645920"/>
          </a:xfrm>
          <a:prstGeom prst="roundRect">
            <a:avLst/>
          </a:prstGeom>
          <a:solidFill>
            <a:srgbClr val="F2F7F5"/>
          </a:solidFill>
          <a:ln>
            <a:solidFill>
              <a:srgbClr val="D7E2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86968" y="3730752"/>
            <a:ext cx="4764024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700" b="1" i="0">
                <a:solidFill>
                  <a:srgbClr val="0C7058"/>
                </a:solidFill>
                <a:latin typeface="Aptos"/>
              </a:rPr>
              <a:t>Tüm disiplinler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86968" y="4206240"/>
            <a:ext cx="4764024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50" b="0" i="0">
                <a:solidFill>
                  <a:srgbClr val="19272D"/>
                </a:solidFill>
                <a:latin typeface="Aptos"/>
              </a:rPr>
              <a:t>Siyaset biliminden tıp fakültesine, güzel sanatlardan mühendisliğe kadar.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3566160"/>
            <a:ext cx="5166360" cy="1645920"/>
          </a:xfrm>
          <a:prstGeom prst="roundRect">
            <a:avLst/>
          </a:prstGeom>
          <a:solidFill>
            <a:srgbClr val="F2F7F5"/>
          </a:solidFill>
          <a:ln>
            <a:solidFill>
              <a:srgbClr val="D7E2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19088" y="3730752"/>
            <a:ext cx="4764024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700" b="1" i="0">
                <a:solidFill>
                  <a:srgbClr val="0C7058"/>
                </a:solidFill>
                <a:latin typeface="Aptos"/>
              </a:rPr>
              <a:t>Çanakkale ekosistemi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19088" y="4206240"/>
            <a:ext cx="4764024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50" b="0" i="0">
                <a:solidFill>
                  <a:srgbClr val="19272D"/>
                </a:solidFill>
                <a:latin typeface="Aptos"/>
              </a:rPr>
              <a:t>Belediyeler, şirketler, enerji şirketleri ve üreticilerle gerçek problemlere bağlantı.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6510528"/>
            <a:ext cx="8961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0" i="0">
                <a:solidFill>
                  <a:srgbClr val="646E73"/>
                </a:solidFill>
                <a:latin typeface="Aptos"/>
              </a:rPr>
              <a:t>GO TO ANT  ·  ÇOMÜ Mikro Yapay Zekâ Ekosistemi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55680" y="6473952"/>
            <a:ext cx="3657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0" i="0">
                <a:solidFill>
                  <a:srgbClr val="646E73"/>
                </a:solidFill>
                <a:latin typeface="Aptos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88136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 i="0">
                <a:solidFill>
                  <a:srgbClr val="0C7058"/>
                </a:solidFill>
                <a:latin typeface="Aptos"/>
              </a:rPr>
              <a:t>2. Temel fikir: Merkezi bir dev sistem değil, kolektif zekâ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08760"/>
            <a:ext cx="3017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900" b="1" i="0">
                <a:solidFill>
                  <a:srgbClr val="0C7058"/>
                </a:solidFill>
                <a:latin typeface="Aptos"/>
              </a:rPr>
              <a:t>Tek tek küçük katkılar</a:t>
            </a:r>
          </a:p>
        </p:txBody>
      </p:sp>
      <p:sp>
        <p:nvSpPr>
          <p:cNvPr id="5" name="Oval 4"/>
          <p:cNvSpPr/>
          <p:nvPr/>
        </p:nvSpPr>
        <p:spPr>
          <a:xfrm>
            <a:off x="960120" y="2057400"/>
            <a:ext cx="384048" cy="384048"/>
          </a:xfrm>
          <a:prstGeom prst="ellipse">
            <a:avLst/>
          </a:prstGeom>
          <a:solidFill>
            <a:srgbClr val="D0A5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645920" y="2057400"/>
            <a:ext cx="384048" cy="384048"/>
          </a:xfrm>
          <a:prstGeom prst="ellipse">
            <a:avLst/>
          </a:prstGeom>
          <a:solidFill>
            <a:srgbClr val="D0A5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2331720" y="2057400"/>
            <a:ext cx="384048" cy="384048"/>
          </a:xfrm>
          <a:prstGeom prst="ellipse">
            <a:avLst/>
          </a:prstGeom>
          <a:solidFill>
            <a:srgbClr val="D0A5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3017520" y="2057400"/>
            <a:ext cx="384048" cy="384048"/>
          </a:xfrm>
          <a:prstGeom prst="ellipse">
            <a:avLst/>
          </a:prstGeom>
          <a:solidFill>
            <a:srgbClr val="D0A5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60120" y="2743200"/>
            <a:ext cx="384048" cy="384048"/>
          </a:xfrm>
          <a:prstGeom prst="ellipse">
            <a:avLst/>
          </a:prstGeom>
          <a:solidFill>
            <a:srgbClr val="D0A5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645920" y="2743200"/>
            <a:ext cx="384048" cy="384048"/>
          </a:xfrm>
          <a:prstGeom prst="ellipse">
            <a:avLst/>
          </a:prstGeom>
          <a:solidFill>
            <a:srgbClr val="D0A5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2331720" y="2743200"/>
            <a:ext cx="384048" cy="384048"/>
          </a:xfrm>
          <a:prstGeom prst="ellipse">
            <a:avLst/>
          </a:prstGeom>
          <a:solidFill>
            <a:srgbClr val="D0A5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3017520" y="2743200"/>
            <a:ext cx="384048" cy="384048"/>
          </a:xfrm>
          <a:prstGeom prst="ellipse">
            <a:avLst/>
          </a:prstGeom>
          <a:solidFill>
            <a:srgbClr val="D0A5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960120" y="3429000"/>
            <a:ext cx="384048" cy="384048"/>
          </a:xfrm>
          <a:prstGeom prst="ellipse">
            <a:avLst/>
          </a:prstGeom>
          <a:solidFill>
            <a:srgbClr val="D0A5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645920" y="3429000"/>
            <a:ext cx="384048" cy="384048"/>
          </a:xfrm>
          <a:prstGeom prst="ellipse">
            <a:avLst/>
          </a:prstGeom>
          <a:solidFill>
            <a:srgbClr val="D0A5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2331720" y="3429000"/>
            <a:ext cx="384048" cy="384048"/>
          </a:xfrm>
          <a:prstGeom prst="ellipse">
            <a:avLst/>
          </a:prstGeom>
          <a:solidFill>
            <a:srgbClr val="D0A5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017520" y="3429000"/>
            <a:ext cx="384048" cy="384048"/>
          </a:xfrm>
          <a:prstGeom prst="ellipse">
            <a:avLst/>
          </a:prstGeom>
          <a:solidFill>
            <a:srgbClr val="D0A5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794760" y="2331720"/>
            <a:ext cx="5486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000" b="1" i="0">
                <a:solidFill>
                  <a:srgbClr val="646E73"/>
                </a:solidFill>
                <a:latin typeface="Aptos"/>
              </a:rPr>
              <a:t>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34840" y="1874519"/>
            <a:ext cx="201168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 i="0">
                <a:solidFill>
                  <a:srgbClr val="0C7058"/>
                </a:solidFill>
                <a:latin typeface="Aptos"/>
              </a:rPr>
              <a:t>Birleşen bilgi
ve görevler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0" y="2331720"/>
            <a:ext cx="5486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000" b="1" i="0">
                <a:solidFill>
                  <a:srgbClr val="646E73"/>
                </a:solidFill>
                <a:latin typeface="Aptos"/>
              </a:rPr>
              <a:t>↓</a:t>
            </a:r>
          </a:p>
        </p:txBody>
      </p:sp>
      <p:sp>
        <p:nvSpPr>
          <p:cNvPr id="20" name="Hexagon 19"/>
          <p:cNvSpPr/>
          <p:nvPr/>
        </p:nvSpPr>
        <p:spPr>
          <a:xfrm>
            <a:off x="7315200" y="1737360"/>
            <a:ext cx="3383280" cy="2103120"/>
          </a:xfrm>
          <a:prstGeom prst="hexagon">
            <a:avLst/>
          </a:prstGeom>
          <a:solidFill>
            <a:srgbClr val="F2F7F5"/>
          </a:solidFill>
          <a:ln>
            <a:solidFill>
              <a:srgbClr val="0C70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543800" y="2240280"/>
            <a:ext cx="292608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500" b="1" i="0">
                <a:solidFill>
                  <a:srgbClr val="0C7058"/>
                </a:solidFill>
                <a:latin typeface="Aptos"/>
              </a:rPr>
              <a:t>KOLEKTİF
ZEKÂ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7280" y="4663440"/>
            <a:ext cx="996696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700" b="0" i="0">
                <a:solidFill>
                  <a:srgbClr val="19272D"/>
                </a:solidFill>
                <a:latin typeface="Aptos"/>
              </a:rPr>
              <a:t>Karınca metaforu burada yalnızca bir ders örneği değil; projenin organizasyon mantığıdır.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6510528"/>
            <a:ext cx="8961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0" i="0">
                <a:solidFill>
                  <a:srgbClr val="646E73"/>
                </a:solidFill>
                <a:latin typeface="Aptos"/>
              </a:rPr>
              <a:t>GO TO ANT  ·  ÇOMÜ Mikro Yapay Zekâ Ekosistemi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155680" y="6473952"/>
            <a:ext cx="3657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0" i="0">
                <a:solidFill>
                  <a:srgbClr val="646E73"/>
                </a:solidFill>
                <a:latin typeface="Aptos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88136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 i="0">
                <a:solidFill>
                  <a:srgbClr val="0C7058"/>
                </a:solidFill>
                <a:latin typeface="Aptos"/>
              </a:rPr>
              <a:t>3. Üç katmanlı yapı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508760"/>
            <a:ext cx="3474720" cy="3474720"/>
          </a:xfrm>
          <a:prstGeom prst="roundRect">
            <a:avLst/>
          </a:prstGeom>
          <a:solidFill>
            <a:srgbClr val="F2F7F5"/>
          </a:solidFill>
          <a:ln>
            <a:solidFill>
              <a:srgbClr val="D7E2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95528" y="1673351"/>
            <a:ext cx="3072384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700" b="1" i="0">
                <a:solidFill>
                  <a:srgbClr val="D0A54B"/>
                </a:solidFill>
                <a:latin typeface="Aptos"/>
              </a:rPr>
              <a:t>MİKRO DÜZEY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5528" y="2148839"/>
            <a:ext cx="3072384" cy="269747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50" b="0" i="0">
                <a:solidFill>
                  <a:srgbClr val="19272D"/>
                </a:solidFill>
                <a:latin typeface="Aptos"/>
              </a:rPr>
              <a:t>Öğrenci
• Kendi alanından problem bulur
• Küçük bir AI katkısı üretir
• Bilgi, veri veya fikir sağlar
• Sonuçları doğrular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70832" y="1508760"/>
            <a:ext cx="3474720" cy="3474720"/>
          </a:xfrm>
          <a:prstGeom prst="roundRect">
            <a:avLst/>
          </a:prstGeom>
          <a:solidFill>
            <a:srgbClr val="F2F7F5"/>
          </a:solidFill>
          <a:ln>
            <a:solidFill>
              <a:srgbClr val="D7E2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0" y="1673351"/>
            <a:ext cx="3072384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700" b="1" i="0">
                <a:solidFill>
                  <a:srgbClr val="0C7058"/>
                </a:solidFill>
                <a:latin typeface="Aptos"/>
              </a:rPr>
              <a:t>BÖLÜM / FAKÜLTE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2148839"/>
            <a:ext cx="3072384" cy="269747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50" b="0" i="0">
                <a:solidFill>
                  <a:srgbClr val="19272D"/>
                </a:solidFill>
                <a:latin typeface="Aptos"/>
              </a:rPr>
              <a:t>Disiplinlerarası birleşme
• Benzer problemler gruplanır
• Farklı uzmanlıklar buluşur
• Ortak çözüm prototipleri geliştirilir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47304" y="1508760"/>
            <a:ext cx="3474720" cy="3474720"/>
          </a:xfrm>
          <a:prstGeom prst="roundRect">
            <a:avLst/>
          </a:prstGeom>
          <a:solidFill>
            <a:srgbClr val="F2F7F5"/>
          </a:solidFill>
          <a:ln>
            <a:solidFill>
              <a:srgbClr val="D7E2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48472" y="1673351"/>
            <a:ext cx="3072384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700" b="1" i="0">
                <a:solidFill>
                  <a:srgbClr val="485F69"/>
                </a:solidFill>
                <a:latin typeface="Aptos"/>
              </a:rPr>
              <a:t>ÇANAKKALE EKOSİSTEMİ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48472" y="2148839"/>
            <a:ext cx="3072384" cy="269747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50" b="0" i="0">
                <a:solidFill>
                  <a:srgbClr val="19272D"/>
                </a:solidFill>
                <a:latin typeface="Aptos"/>
              </a:rPr>
              <a:t>Gerçek dünya bağlantısı
• Belediyeler
• Şirketler
• Enerji
• Üreticiler
• Yerel problemler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6510528"/>
            <a:ext cx="8961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0" i="0">
                <a:solidFill>
                  <a:srgbClr val="646E73"/>
                </a:solidFill>
                <a:latin typeface="Aptos"/>
              </a:rPr>
              <a:t>GO TO ANT  ·  ÇOMÜ Mikro Yapay Zekâ Ekosistemi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155680" y="6473952"/>
            <a:ext cx="3657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0" i="0">
                <a:solidFill>
                  <a:srgbClr val="646E73"/>
                </a:solidFill>
                <a:latin typeface="Aptos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88136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 i="0">
                <a:solidFill>
                  <a:srgbClr val="0C7058"/>
                </a:solidFill>
                <a:latin typeface="Aptos"/>
              </a:rPr>
              <a:t>4. Disiplinlerarası ağ nasıl çalışabilir?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17320"/>
            <a:ext cx="10698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 i="0">
                <a:solidFill>
                  <a:srgbClr val="0C7058"/>
                </a:solidFill>
                <a:latin typeface="Aptos"/>
              </a:rPr>
              <a:t>Örnek problem: ENERJİ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2148840"/>
            <a:ext cx="1828800" cy="731520"/>
          </a:xfrm>
          <a:prstGeom prst="roundRect">
            <a:avLst/>
          </a:prstGeom>
          <a:solidFill>
            <a:srgbClr val="F2F7F5"/>
          </a:solidFill>
          <a:ln>
            <a:solidFill>
              <a:srgbClr val="0C70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87552" y="2331720"/>
            <a:ext cx="1682496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 i="0">
                <a:solidFill>
                  <a:srgbClr val="0C7058"/>
                </a:solidFill>
                <a:latin typeface="Aptos"/>
              </a:rPr>
              <a:t>Mühendislik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063240" y="2148840"/>
            <a:ext cx="1828800" cy="731520"/>
          </a:xfrm>
          <a:prstGeom prst="roundRect">
            <a:avLst/>
          </a:prstGeom>
          <a:solidFill>
            <a:srgbClr val="F2F7F5"/>
          </a:solidFill>
          <a:ln>
            <a:solidFill>
              <a:srgbClr val="0C70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136392" y="2331720"/>
            <a:ext cx="1682496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 i="0">
                <a:solidFill>
                  <a:srgbClr val="0C7058"/>
                </a:solidFill>
                <a:latin typeface="Aptos"/>
              </a:rPr>
              <a:t>Hukuk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212080" y="2148840"/>
            <a:ext cx="1828800" cy="731520"/>
          </a:xfrm>
          <a:prstGeom prst="roundRect">
            <a:avLst/>
          </a:prstGeom>
          <a:solidFill>
            <a:srgbClr val="F2F7F5"/>
          </a:solidFill>
          <a:ln>
            <a:solidFill>
              <a:srgbClr val="0C70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285232" y="2331720"/>
            <a:ext cx="1682496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 i="0">
                <a:solidFill>
                  <a:srgbClr val="0C7058"/>
                </a:solidFill>
                <a:latin typeface="Aptos"/>
              </a:rPr>
              <a:t>İktisat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60920" y="2148840"/>
            <a:ext cx="1828800" cy="731520"/>
          </a:xfrm>
          <a:prstGeom prst="roundRect">
            <a:avLst/>
          </a:prstGeom>
          <a:solidFill>
            <a:srgbClr val="F2F7F5"/>
          </a:solidFill>
          <a:ln>
            <a:solidFill>
              <a:srgbClr val="0C70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34072" y="2331720"/>
            <a:ext cx="1682496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 i="0">
                <a:solidFill>
                  <a:srgbClr val="0C7058"/>
                </a:solidFill>
                <a:latin typeface="Aptos"/>
              </a:rPr>
              <a:t>Siyaset Bilimi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509760" y="2148840"/>
            <a:ext cx="1828800" cy="731520"/>
          </a:xfrm>
          <a:prstGeom prst="roundRect">
            <a:avLst/>
          </a:prstGeom>
          <a:solidFill>
            <a:srgbClr val="F2F7F5"/>
          </a:solidFill>
          <a:ln>
            <a:solidFill>
              <a:srgbClr val="0C70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582912" y="2331720"/>
            <a:ext cx="1682496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 i="0">
                <a:solidFill>
                  <a:srgbClr val="0C7058"/>
                </a:solidFill>
                <a:latin typeface="Aptos"/>
              </a:rPr>
              <a:t>Çevre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743200" y="4069080"/>
            <a:ext cx="1828800" cy="731520"/>
          </a:xfrm>
          <a:prstGeom prst="roundRect">
            <a:avLst/>
          </a:prstGeom>
          <a:solidFill>
            <a:srgbClr val="F2F7F5"/>
          </a:solidFill>
          <a:ln>
            <a:solidFill>
              <a:srgbClr val="0C70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816352" y="4251960"/>
            <a:ext cx="1682496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 i="0">
                <a:solidFill>
                  <a:srgbClr val="0C7058"/>
                </a:solidFill>
                <a:latin typeface="Aptos"/>
              </a:rPr>
              <a:t>İletişim / Sanat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0" y="4069080"/>
            <a:ext cx="1828800" cy="731520"/>
          </a:xfrm>
          <a:prstGeom prst="roundRect">
            <a:avLst/>
          </a:prstGeom>
          <a:solidFill>
            <a:srgbClr val="F2F7F5"/>
          </a:solidFill>
          <a:ln>
            <a:solidFill>
              <a:srgbClr val="0C70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559552" y="4251960"/>
            <a:ext cx="1682496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 i="0">
                <a:solidFill>
                  <a:srgbClr val="0C7058"/>
                </a:solidFill>
                <a:latin typeface="Aptos"/>
              </a:rPr>
              <a:t>İşletme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29600" y="4069080"/>
            <a:ext cx="1828800" cy="731520"/>
          </a:xfrm>
          <a:prstGeom prst="roundRect">
            <a:avLst/>
          </a:prstGeom>
          <a:solidFill>
            <a:srgbClr val="F2F7F5"/>
          </a:solidFill>
          <a:ln>
            <a:solidFill>
              <a:srgbClr val="0C70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02752" y="4251960"/>
            <a:ext cx="1682496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 i="0">
                <a:solidFill>
                  <a:srgbClr val="0C7058"/>
                </a:solidFill>
                <a:latin typeface="Aptos"/>
              </a:rPr>
              <a:t>Yerel yönetim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715000" y="4983480"/>
            <a:ext cx="731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500" b="1" i="0">
                <a:solidFill>
                  <a:srgbClr val="646E73"/>
                </a:solidFill>
                <a:latin typeface="Aptos"/>
              </a:rPr>
              <a:t>↓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200400" y="5486400"/>
            <a:ext cx="58521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 i="0">
                <a:solidFill>
                  <a:srgbClr val="19272D"/>
                </a:solidFill>
                <a:latin typeface="Aptos"/>
              </a:rPr>
              <a:t>Ortak çözüm / prototip / politika önerisi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6510528"/>
            <a:ext cx="8961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0" i="0">
                <a:solidFill>
                  <a:srgbClr val="646E73"/>
                </a:solidFill>
                <a:latin typeface="Aptos"/>
              </a:rPr>
              <a:t>GO TO ANT  ·  ÇOMÜ Mikro Yapay Zekâ Ekosistemi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155680" y="6473952"/>
            <a:ext cx="3657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0" i="0">
                <a:solidFill>
                  <a:srgbClr val="646E73"/>
                </a:solidFill>
                <a:latin typeface="Aptos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88136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 i="0">
                <a:solidFill>
                  <a:srgbClr val="0C7058"/>
                </a:solidFill>
                <a:latin typeface="Aptos"/>
              </a:rPr>
              <a:t>5. İlk 4 hafta: yapıyı koruyup Go to Ant damarı eklemek</a:t>
            </a:r>
          </a:p>
        </p:txBody>
      </p:sp>
      <p:sp>
        <p:nvSpPr>
          <p:cNvPr id="4" name="Oval 3"/>
          <p:cNvSpPr/>
          <p:nvPr/>
        </p:nvSpPr>
        <p:spPr>
          <a:xfrm>
            <a:off x="731520" y="1417320"/>
            <a:ext cx="566928" cy="566928"/>
          </a:xfrm>
          <a:prstGeom prst="ellipse">
            <a:avLst/>
          </a:prstGeom>
          <a:solidFill>
            <a:srgbClr val="0C70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517904"/>
            <a:ext cx="566928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8760" y="1399032"/>
            <a:ext cx="2834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1" i="0">
                <a:solidFill>
                  <a:srgbClr val="0C7058"/>
                </a:solidFill>
                <a:latin typeface="Aptos"/>
              </a:rPr>
              <a:t>YZ nedir, ne değildir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06240" y="1399032"/>
            <a:ext cx="713232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50" b="0" i="0">
                <a:solidFill>
                  <a:srgbClr val="19272D"/>
                </a:solidFill>
                <a:latin typeface="Aptos"/>
              </a:rPr>
              <a:t>“Zekâ tek bir yerde olmak zorunda mıdır?”
Bireysel zekâ → kolektif zekâ → karınca kolonisi.</a:t>
            </a:r>
          </a:p>
        </p:txBody>
      </p:sp>
      <p:sp>
        <p:nvSpPr>
          <p:cNvPr id="8" name="Oval 7"/>
          <p:cNvSpPr/>
          <p:nvPr/>
        </p:nvSpPr>
        <p:spPr>
          <a:xfrm>
            <a:off x="731520" y="2651760"/>
            <a:ext cx="566928" cy="566928"/>
          </a:xfrm>
          <a:prstGeom prst="ellipse">
            <a:avLst/>
          </a:prstGeom>
          <a:solidFill>
            <a:srgbClr val="0C70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2752344"/>
            <a:ext cx="566928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08760" y="2633472"/>
            <a:ext cx="2834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1" i="0">
                <a:solidFill>
                  <a:srgbClr val="0C7058"/>
                </a:solidFill>
                <a:latin typeface="Aptos"/>
              </a:rPr>
              <a:t>Kullanım alanları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06240" y="2633472"/>
            <a:ext cx="713232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50" b="0" i="0">
                <a:solidFill>
                  <a:srgbClr val="19272D"/>
                </a:solidFill>
                <a:latin typeface="Aptos"/>
              </a:rPr>
              <a:t>“Bu işi tek bir AI mı yapmalı?”
Farklı görevleri üstlenen küçük sistemler fikrine giriş.</a:t>
            </a:r>
          </a:p>
        </p:txBody>
      </p:sp>
      <p:sp>
        <p:nvSpPr>
          <p:cNvPr id="12" name="Oval 11"/>
          <p:cNvSpPr/>
          <p:nvPr/>
        </p:nvSpPr>
        <p:spPr>
          <a:xfrm>
            <a:off x="731520" y="3886200"/>
            <a:ext cx="566928" cy="566928"/>
          </a:xfrm>
          <a:prstGeom prst="ellipse">
            <a:avLst/>
          </a:prstGeom>
          <a:solidFill>
            <a:srgbClr val="0C70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3986784"/>
            <a:ext cx="566928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08760" y="3867912"/>
            <a:ext cx="2834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1" i="0">
                <a:solidFill>
                  <a:srgbClr val="0C7058"/>
                </a:solidFill>
                <a:latin typeface="Aptos"/>
              </a:rPr>
              <a:t>Prompt ve diyalog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06240" y="3867912"/>
            <a:ext cx="713232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50" b="0" i="0">
                <a:solidFill>
                  <a:srgbClr val="19272D"/>
                </a:solidFill>
                <a:latin typeface="Aptos"/>
              </a:rPr>
              <a:t>Tek prompt → farklı promptlar → sonuçların karşılaştırılması.
Kolektif problem çözmeye sezgisel giriş.</a:t>
            </a:r>
          </a:p>
        </p:txBody>
      </p:sp>
      <p:sp>
        <p:nvSpPr>
          <p:cNvPr id="16" name="Oval 15"/>
          <p:cNvSpPr/>
          <p:nvPr/>
        </p:nvSpPr>
        <p:spPr>
          <a:xfrm>
            <a:off x="731520" y="5120640"/>
            <a:ext cx="566928" cy="566928"/>
          </a:xfrm>
          <a:prstGeom prst="ellipse">
            <a:avLst/>
          </a:prstGeom>
          <a:solidFill>
            <a:srgbClr val="0C70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5221224"/>
            <a:ext cx="566928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08760" y="5102352"/>
            <a:ext cx="2834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1" i="0">
                <a:solidFill>
                  <a:srgbClr val="0C7058"/>
                </a:solidFill>
                <a:latin typeface="Aptos"/>
              </a:rPr>
              <a:t>Sınırlar, riskler ve etik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06240" y="5102352"/>
            <a:ext cx="713232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50" b="0" i="0">
                <a:solidFill>
                  <a:srgbClr val="19272D"/>
                </a:solidFill>
                <a:latin typeface="Aptos"/>
              </a:rPr>
              <a:t>“Bir AI hata yaptığında kim sorumludur?”
Çoklu sistemlerde sorumluluk ve yönetişim.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6510528"/>
            <a:ext cx="8961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0" i="0">
                <a:solidFill>
                  <a:srgbClr val="646E73"/>
                </a:solidFill>
                <a:latin typeface="Aptos"/>
              </a:rPr>
              <a:t>GO TO ANT  ·  ÇOMÜ Mikro Yapay Zekâ Ekosistemi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155680" y="6473952"/>
            <a:ext cx="3657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0" i="0">
                <a:solidFill>
                  <a:srgbClr val="646E73"/>
                </a:solidFill>
                <a:latin typeface="Aptos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88136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 i="0">
                <a:solidFill>
                  <a:srgbClr val="0C7058"/>
                </a:solidFill>
                <a:latin typeface="Aptos"/>
              </a:rPr>
              <a:t>6. 1. haftadan itibaren öğrencinin rolü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417320"/>
            <a:ext cx="102412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100" b="1" i="0">
                <a:solidFill>
                  <a:srgbClr val="19272D"/>
                </a:solidFill>
                <a:latin typeface="Aptos"/>
              </a:rPr>
              <a:t>Öğrenci yalnızca AI kullanan kişi değil;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874519"/>
            <a:ext cx="102412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300" b="1" i="0">
                <a:solidFill>
                  <a:srgbClr val="0C7058"/>
                </a:solidFill>
                <a:latin typeface="Aptos"/>
              </a:rPr>
              <a:t>üniversitenin kolektif zekâsının bir parçasıdır.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880360"/>
            <a:ext cx="2514600" cy="2057400"/>
          </a:xfrm>
          <a:prstGeom prst="roundRect">
            <a:avLst/>
          </a:prstGeom>
          <a:solidFill>
            <a:srgbClr val="F2F7F5"/>
          </a:solidFill>
          <a:ln>
            <a:solidFill>
              <a:srgbClr val="D7E2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7" y="3044952"/>
            <a:ext cx="2112264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700" b="1" i="0">
                <a:solidFill>
                  <a:srgbClr val="D0A54B"/>
                </a:solidFill>
                <a:latin typeface="Aptos"/>
              </a:rPr>
              <a:t>PROBLEM BUL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7" y="3520439"/>
            <a:ext cx="2112264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50" b="0" i="0">
                <a:solidFill>
                  <a:srgbClr val="19272D"/>
                </a:solidFill>
                <a:latin typeface="Aptos"/>
              </a:rPr>
              <a:t>Kendi alanından gerçek bir problem seç.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74720" y="2880360"/>
            <a:ext cx="2514600" cy="2057400"/>
          </a:xfrm>
          <a:prstGeom prst="roundRect">
            <a:avLst/>
          </a:prstGeom>
          <a:solidFill>
            <a:srgbClr val="F2F7F5"/>
          </a:solidFill>
          <a:ln>
            <a:solidFill>
              <a:srgbClr val="D7E2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75887" y="3044952"/>
            <a:ext cx="2112264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700" b="1" i="0">
                <a:solidFill>
                  <a:srgbClr val="0C7058"/>
                </a:solidFill>
                <a:latin typeface="Aptos"/>
              </a:rPr>
              <a:t>ARAŞTIR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75887" y="3520439"/>
            <a:ext cx="2112264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50" b="0" i="0">
                <a:solidFill>
                  <a:srgbClr val="19272D"/>
                </a:solidFill>
                <a:latin typeface="Aptos"/>
              </a:rPr>
              <a:t>AI ile problemi anlamaya ve çerçevelemeye çalış.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09360" y="2880360"/>
            <a:ext cx="2514600" cy="2057400"/>
          </a:xfrm>
          <a:prstGeom prst="roundRect">
            <a:avLst/>
          </a:prstGeom>
          <a:solidFill>
            <a:srgbClr val="F2F7F5"/>
          </a:solidFill>
          <a:ln>
            <a:solidFill>
              <a:srgbClr val="D7E2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10528" y="3044952"/>
            <a:ext cx="2112264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700" b="1" i="0">
                <a:solidFill>
                  <a:srgbClr val="0C7058"/>
                </a:solidFill>
                <a:latin typeface="Aptos"/>
              </a:rPr>
              <a:t>DOĞRULA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10528" y="3520439"/>
            <a:ext cx="2112264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50" b="0" i="0">
                <a:solidFill>
                  <a:srgbClr val="19272D"/>
                </a:solidFill>
                <a:latin typeface="Aptos"/>
              </a:rPr>
              <a:t>Kaynakları ve AI çıktısını kontrol et.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144000" y="2880360"/>
            <a:ext cx="2514600" cy="2057400"/>
          </a:xfrm>
          <a:prstGeom prst="roundRect">
            <a:avLst/>
          </a:prstGeom>
          <a:solidFill>
            <a:srgbClr val="F2F7F5"/>
          </a:solidFill>
          <a:ln>
            <a:solidFill>
              <a:srgbClr val="D7E2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345168" y="3044952"/>
            <a:ext cx="2112264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700" b="1" i="0">
                <a:solidFill>
                  <a:srgbClr val="0C7058"/>
                </a:solidFill>
                <a:latin typeface="Aptos"/>
              </a:rPr>
              <a:t>PAYLAŞ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345168" y="3520439"/>
            <a:ext cx="2112264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50" b="0" i="0">
                <a:solidFill>
                  <a:srgbClr val="19272D"/>
                </a:solidFill>
                <a:latin typeface="Aptos"/>
              </a:rPr>
              <a:t>Çıktıyı bölüm/fakülte ağına taşı.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6510528"/>
            <a:ext cx="8961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0" i="0">
                <a:solidFill>
                  <a:srgbClr val="646E73"/>
                </a:solidFill>
                <a:latin typeface="Aptos"/>
              </a:rPr>
              <a:t>GO TO ANT  ·  ÇOMÜ Mikro Yapay Zekâ Ekosistemi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155680" y="6473952"/>
            <a:ext cx="3657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0" i="0">
                <a:solidFill>
                  <a:srgbClr val="646E73"/>
                </a:solidFill>
                <a:latin typeface="Aptos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88136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 i="0">
                <a:solidFill>
                  <a:srgbClr val="0C7058"/>
                </a:solidFill>
                <a:latin typeface="Aptos"/>
              </a:rPr>
              <a:t>7. 5. hafta: Go to Ant — asıl özgün bölüm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828800"/>
            <a:ext cx="13258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700" b="1" i="0">
                <a:solidFill>
                  <a:srgbClr val="0C7058"/>
                </a:solidFill>
                <a:latin typeface="Aptos"/>
              </a:rPr>
              <a:t>Karınca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1828800"/>
            <a:ext cx="4572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 b="1" i="0">
                <a:solidFill>
                  <a:srgbClr val="646E73"/>
                </a:solidFill>
                <a:latin typeface="Aptos"/>
              </a:rPr>
              <a:t>→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331720" y="1828800"/>
            <a:ext cx="13258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700" b="1" i="0">
                <a:solidFill>
                  <a:srgbClr val="0C7058"/>
                </a:solidFill>
                <a:latin typeface="Aptos"/>
              </a:rPr>
              <a:t>Sürü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0" y="1828800"/>
            <a:ext cx="4572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 b="1" i="0">
                <a:solidFill>
                  <a:srgbClr val="646E73"/>
                </a:solidFill>
                <a:latin typeface="Aptos"/>
              </a:rPr>
              <a:t>→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60520" y="1664208"/>
            <a:ext cx="14173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700" b="1" i="0">
                <a:solidFill>
                  <a:srgbClr val="0C7058"/>
                </a:solidFill>
                <a:latin typeface="Aptos"/>
              </a:rPr>
              <a:t>Kolektif
zekâ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577840" y="1828800"/>
            <a:ext cx="4572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 b="1" i="0">
                <a:solidFill>
                  <a:srgbClr val="646E73"/>
                </a:solidFill>
                <a:latin typeface="Aptos"/>
              </a:rPr>
              <a:t>→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80760" y="1664208"/>
            <a:ext cx="14173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700" b="1" i="0">
                <a:solidFill>
                  <a:srgbClr val="0C7058"/>
                </a:solidFill>
                <a:latin typeface="Aptos"/>
              </a:rPr>
              <a:t>Dağıtık
sistem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8079" y="1828800"/>
            <a:ext cx="4572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 b="1" i="0">
                <a:solidFill>
                  <a:srgbClr val="646E73"/>
                </a:solidFill>
                <a:latin typeface="Aptos"/>
              </a:rPr>
              <a:t>→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01000" y="1664208"/>
            <a:ext cx="14173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700" b="1" i="0">
                <a:solidFill>
                  <a:srgbClr val="0C7058"/>
                </a:solidFill>
                <a:latin typeface="Aptos"/>
              </a:rPr>
              <a:t>Swarm
intelligence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418320" y="1828800"/>
            <a:ext cx="4572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 b="1" i="0">
                <a:solidFill>
                  <a:srgbClr val="646E73"/>
                </a:solidFill>
                <a:latin typeface="Aptos"/>
              </a:rPr>
              <a:t>→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921240" y="1664208"/>
            <a:ext cx="14173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700" b="1" i="0">
                <a:solidFill>
                  <a:srgbClr val="0C7058"/>
                </a:solidFill>
                <a:latin typeface="Aptos"/>
              </a:rPr>
              <a:t>Multi-agent
AI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23560" y="2788920"/>
            <a:ext cx="6400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800" b="1" i="0">
                <a:solidFill>
                  <a:srgbClr val="646E73"/>
                </a:solidFill>
                <a:latin typeface="Aptos"/>
              </a:rPr>
              <a:t>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834640" y="3429000"/>
            <a:ext cx="6492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  <a:latin typeface="Aptos"/>
              </a:rPr>
              <a:t>MİKRO YAPAY ZEKÂ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743200" y="3337560"/>
            <a:ext cx="6675120" cy="914400"/>
          </a:xfrm>
          <a:prstGeom prst="roundRect">
            <a:avLst/>
          </a:prstGeom>
          <a:solidFill>
            <a:srgbClr val="0C70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834640" y="3502152"/>
            <a:ext cx="64922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Aptos"/>
              </a:rPr>
              <a:t>MİKRO YAPAY ZEKÂ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63040" y="4983480"/>
            <a:ext cx="93268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700" b="0" i="0">
                <a:solidFill>
                  <a:srgbClr val="19272D"/>
                </a:solidFill>
                <a:latin typeface="Aptos"/>
              </a:rPr>
              <a:t>Tek bir büyük cevaptan, birlikte çalışan küçük zekâların sistemine.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6510528"/>
            <a:ext cx="8961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0" i="0">
                <a:solidFill>
                  <a:srgbClr val="646E73"/>
                </a:solidFill>
                <a:latin typeface="Aptos"/>
              </a:rPr>
              <a:t>GO TO ANT  ·  ÇOMÜ Mikro Yapay Zekâ Ekosistemi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155680" y="6473952"/>
            <a:ext cx="3657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0" i="0">
                <a:solidFill>
                  <a:srgbClr val="646E73"/>
                </a:solidFill>
                <a:latin typeface="Aptos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88136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 i="0">
                <a:solidFill>
                  <a:srgbClr val="0C7058"/>
                </a:solidFill>
                <a:latin typeface="Aptos"/>
              </a:rPr>
              <a:t>8. 10–15 kişilik çekirdek yönetimin rolü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325880"/>
            <a:ext cx="102412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 b="1" i="0">
                <a:solidFill>
                  <a:srgbClr val="0C7058"/>
                </a:solidFill>
                <a:latin typeface="Aptos"/>
              </a:rPr>
              <a:t>47.000 öğrenciyi yönetmek değil, sistemi mümkün kılmak.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103120"/>
            <a:ext cx="3429000" cy="1600200"/>
          </a:xfrm>
          <a:prstGeom prst="roundRect">
            <a:avLst/>
          </a:prstGeom>
          <a:solidFill>
            <a:srgbClr val="F2F7F5"/>
          </a:solidFill>
          <a:ln>
            <a:solidFill>
              <a:srgbClr val="D7E2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41247" y="2267712"/>
            <a:ext cx="3026664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700" b="1" i="0">
                <a:solidFill>
                  <a:srgbClr val="0C7058"/>
                </a:solidFill>
                <a:latin typeface="Aptos"/>
              </a:rPr>
              <a:t>Koordinasyon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7" y="2743200"/>
            <a:ext cx="3026664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50" b="0" i="0">
                <a:solidFill>
                  <a:srgbClr val="19272D"/>
                </a:solidFill>
                <a:latin typeface="Aptos"/>
              </a:rPr>
              <a:t>Genel mimari, takvim, fakülteler arası bağlantı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34840" y="2103120"/>
            <a:ext cx="3429000" cy="1600200"/>
          </a:xfrm>
          <a:prstGeom prst="roundRect">
            <a:avLst/>
          </a:prstGeom>
          <a:solidFill>
            <a:srgbClr val="F2F7F5"/>
          </a:solidFill>
          <a:ln>
            <a:solidFill>
              <a:srgbClr val="D7E2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36008" y="2267712"/>
            <a:ext cx="3026664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700" b="1" i="0">
                <a:solidFill>
                  <a:srgbClr val="0C7058"/>
                </a:solidFill>
                <a:latin typeface="Aptos"/>
              </a:rPr>
              <a:t>Etik &amp; yönetişim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36008" y="2743200"/>
            <a:ext cx="3026664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50" b="0" i="0">
                <a:solidFill>
                  <a:srgbClr val="19272D"/>
                </a:solidFill>
                <a:latin typeface="Aptos"/>
              </a:rPr>
              <a:t>Kullanım ilkeleri, sorumluluk, akademik dürüstlük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0" y="2103120"/>
            <a:ext cx="3429000" cy="1600200"/>
          </a:xfrm>
          <a:prstGeom prst="roundRect">
            <a:avLst/>
          </a:prstGeom>
          <a:solidFill>
            <a:srgbClr val="F2F7F5"/>
          </a:solidFill>
          <a:ln>
            <a:solidFill>
              <a:srgbClr val="D7E2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30768" y="2267712"/>
            <a:ext cx="3026664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700" b="1" i="0">
                <a:solidFill>
                  <a:srgbClr val="0C7058"/>
                </a:solidFill>
                <a:latin typeface="Aptos"/>
              </a:rPr>
              <a:t>Veri &amp; güvenlik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30768" y="2743200"/>
            <a:ext cx="3026664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50" b="0" i="0">
                <a:solidFill>
                  <a:srgbClr val="19272D"/>
                </a:solidFill>
                <a:latin typeface="Aptos"/>
              </a:rPr>
              <a:t>Veri akışı, erişim, gizlilik, kalite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4069079"/>
            <a:ext cx="3429000" cy="1600200"/>
          </a:xfrm>
          <a:prstGeom prst="roundRect">
            <a:avLst/>
          </a:prstGeom>
          <a:solidFill>
            <a:srgbClr val="F2F7F5"/>
          </a:solidFill>
          <a:ln>
            <a:solidFill>
              <a:srgbClr val="D7E2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1247" y="4233671"/>
            <a:ext cx="3026664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700" b="1" i="0">
                <a:solidFill>
                  <a:srgbClr val="0C7058"/>
                </a:solidFill>
                <a:latin typeface="Aptos"/>
              </a:rPr>
              <a:t>Teknoloji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7" y="4709159"/>
            <a:ext cx="3026664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50" b="0" i="0">
                <a:solidFill>
                  <a:srgbClr val="19272D"/>
                </a:solidFill>
                <a:latin typeface="Aptos"/>
              </a:rPr>
              <a:t>AI araçları, platformlar, entegrasyon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434840" y="4069079"/>
            <a:ext cx="3429000" cy="1600200"/>
          </a:xfrm>
          <a:prstGeom prst="roundRect">
            <a:avLst/>
          </a:prstGeom>
          <a:solidFill>
            <a:srgbClr val="F2F7F5"/>
          </a:solidFill>
          <a:ln>
            <a:solidFill>
              <a:srgbClr val="D7E2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636008" y="4233671"/>
            <a:ext cx="3026664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700" b="1" i="0">
                <a:solidFill>
                  <a:srgbClr val="0C7058"/>
                </a:solidFill>
                <a:latin typeface="Aptos"/>
              </a:rPr>
              <a:t>Dış paydaşlar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36008" y="4709159"/>
            <a:ext cx="3026664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50" b="0" i="0">
                <a:solidFill>
                  <a:srgbClr val="19272D"/>
                </a:solidFill>
                <a:latin typeface="Aptos"/>
              </a:rPr>
              <a:t>Belediyeler, şirketler, enerji ve üreticiler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229600" y="4069079"/>
            <a:ext cx="3429000" cy="1600200"/>
          </a:xfrm>
          <a:prstGeom prst="roundRect">
            <a:avLst/>
          </a:prstGeom>
          <a:solidFill>
            <a:srgbClr val="F2F7F5"/>
          </a:solidFill>
          <a:ln>
            <a:solidFill>
              <a:srgbClr val="D7E2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430768" y="4233671"/>
            <a:ext cx="3026664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700" b="1" i="0">
                <a:solidFill>
                  <a:srgbClr val="0C7058"/>
                </a:solidFill>
                <a:latin typeface="Aptos"/>
              </a:rPr>
              <a:t>Kalite &amp; ölçme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30768" y="4709159"/>
            <a:ext cx="3026664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50" b="0" i="0">
                <a:solidFill>
                  <a:srgbClr val="19272D"/>
                </a:solidFill>
                <a:latin typeface="Aptos"/>
              </a:rPr>
              <a:t>Projelerin değerlendirilmesi ve çıktıların takibi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6510528"/>
            <a:ext cx="8961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0" i="0">
                <a:solidFill>
                  <a:srgbClr val="646E73"/>
                </a:solidFill>
                <a:latin typeface="Aptos"/>
              </a:rPr>
              <a:t>GO TO ANT  ·  ÇOMÜ Mikro Yapay Zekâ Ekosistemi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155680" y="6473952"/>
            <a:ext cx="3657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0" i="0">
                <a:solidFill>
                  <a:srgbClr val="646E73"/>
                </a:solidFill>
                <a:latin typeface="Aptos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88136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 i="0">
                <a:solidFill>
                  <a:srgbClr val="0C7058"/>
                </a:solidFill>
                <a:latin typeface="Aptos"/>
              </a:rPr>
              <a:t>9. Üniversite dışı paydaşlarla bağlantı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800600" y="1325880"/>
            <a:ext cx="25603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500" b="1" i="0">
                <a:solidFill>
                  <a:srgbClr val="FFFFFF"/>
                </a:solidFill>
                <a:latin typeface="Aptos"/>
              </a:rPr>
              <a:t>ÇOMÜ</a:t>
            </a:r>
          </a:p>
        </p:txBody>
      </p:sp>
      <p:sp>
        <p:nvSpPr>
          <p:cNvPr id="5" name="Oval 4"/>
          <p:cNvSpPr/>
          <p:nvPr/>
        </p:nvSpPr>
        <p:spPr>
          <a:xfrm>
            <a:off x="4572000" y="1188720"/>
            <a:ext cx="3017520" cy="1051560"/>
          </a:xfrm>
          <a:prstGeom prst="ellipse">
            <a:avLst/>
          </a:prstGeom>
          <a:solidFill>
            <a:srgbClr val="0C70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800600" y="1463040"/>
            <a:ext cx="25603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500" b="1" i="0">
                <a:solidFill>
                  <a:srgbClr val="FFFFFF"/>
                </a:solidFill>
                <a:latin typeface="Aptos"/>
              </a:rPr>
              <a:t>ÇOMÜ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2743200"/>
            <a:ext cx="2011680" cy="822960"/>
          </a:xfrm>
          <a:prstGeom prst="roundRect">
            <a:avLst/>
          </a:prstGeom>
          <a:solidFill>
            <a:srgbClr val="F2F7F5"/>
          </a:solidFill>
          <a:ln>
            <a:solidFill>
              <a:srgbClr val="0C70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297180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 i="0">
                <a:solidFill>
                  <a:srgbClr val="0C7058"/>
                </a:solidFill>
                <a:latin typeface="Aptos"/>
              </a:rPr>
              <a:t>Belediyeler</a:t>
            </a:r>
          </a:p>
        </p:txBody>
      </p:sp>
      <p:cxnSp>
        <p:nvCxnSpPr>
          <p:cNvPr id="9" name="Connector 8"/>
          <p:cNvCxnSpPr/>
          <p:nvPr/>
        </p:nvCxnSpPr>
        <p:spPr>
          <a:xfrm flipH="1">
            <a:off x="1920240" y="2240280"/>
            <a:ext cx="4160520" cy="502920"/>
          </a:xfrm>
          <a:prstGeom prst="line">
            <a:avLst/>
          </a:prstGeom>
          <a:ln>
            <a:solidFill>
              <a:srgbClr val="646E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3657600" y="2743200"/>
            <a:ext cx="2011680" cy="822960"/>
          </a:xfrm>
          <a:prstGeom prst="roundRect">
            <a:avLst/>
          </a:prstGeom>
          <a:solidFill>
            <a:srgbClr val="F2F7F5"/>
          </a:solidFill>
          <a:ln>
            <a:solidFill>
              <a:srgbClr val="0C70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749039" y="297180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 i="0">
                <a:solidFill>
                  <a:srgbClr val="0C7058"/>
                </a:solidFill>
                <a:latin typeface="Aptos"/>
              </a:rPr>
              <a:t>Şirketler</a:t>
            </a:r>
          </a:p>
        </p:txBody>
      </p:sp>
      <p:cxnSp>
        <p:nvCxnSpPr>
          <p:cNvPr id="12" name="Connector 11"/>
          <p:cNvCxnSpPr/>
          <p:nvPr/>
        </p:nvCxnSpPr>
        <p:spPr>
          <a:xfrm flipH="1">
            <a:off x="4663440" y="2240280"/>
            <a:ext cx="1417320" cy="502920"/>
          </a:xfrm>
          <a:prstGeom prst="line">
            <a:avLst/>
          </a:prstGeom>
          <a:ln>
            <a:solidFill>
              <a:srgbClr val="646E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6400800" y="2743200"/>
            <a:ext cx="2011680" cy="822960"/>
          </a:xfrm>
          <a:prstGeom prst="roundRect">
            <a:avLst/>
          </a:prstGeom>
          <a:solidFill>
            <a:srgbClr val="F2F7F5"/>
          </a:solidFill>
          <a:ln>
            <a:solidFill>
              <a:srgbClr val="0C70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92240" y="297180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 i="0">
                <a:solidFill>
                  <a:srgbClr val="0C7058"/>
                </a:solidFill>
                <a:latin typeface="Aptos"/>
              </a:rPr>
              <a:t>Enerji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6080760" y="2240280"/>
            <a:ext cx="1325880" cy="502920"/>
          </a:xfrm>
          <a:prstGeom prst="line">
            <a:avLst/>
          </a:prstGeom>
          <a:ln>
            <a:solidFill>
              <a:srgbClr val="646E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9144000" y="2743200"/>
            <a:ext cx="2011680" cy="822960"/>
          </a:xfrm>
          <a:prstGeom prst="roundRect">
            <a:avLst/>
          </a:prstGeom>
          <a:solidFill>
            <a:srgbClr val="F2F7F5"/>
          </a:solidFill>
          <a:ln>
            <a:solidFill>
              <a:srgbClr val="0C70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235440" y="297180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 i="0">
                <a:solidFill>
                  <a:srgbClr val="0C7058"/>
                </a:solidFill>
                <a:latin typeface="Aptos"/>
              </a:rPr>
              <a:t>Üreticiler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6080760" y="2240280"/>
            <a:ext cx="4069080" cy="502920"/>
          </a:xfrm>
          <a:prstGeom prst="line">
            <a:avLst/>
          </a:prstGeom>
          <a:ln>
            <a:solidFill>
              <a:srgbClr val="646E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1097280" y="4617720"/>
            <a:ext cx="99669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 i="0">
                <a:solidFill>
                  <a:srgbClr val="19272D"/>
                </a:solidFill>
                <a:latin typeface="Aptos"/>
              </a:rPr>
              <a:t>Gerçek problemler → öğrenci projeleri → doğrulama → prototip / öneri → geri bildirim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6510528"/>
            <a:ext cx="8961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0" i="0">
                <a:solidFill>
                  <a:srgbClr val="646E73"/>
                </a:solidFill>
                <a:latin typeface="Aptos"/>
              </a:rPr>
              <a:t>GO TO ANT  ·  ÇOMÜ Mikro Yapay Zekâ Ekosistemi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155680" y="6473952"/>
            <a:ext cx="3657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0" i="0">
                <a:solidFill>
                  <a:srgbClr val="646E73"/>
                </a:solidFill>
                <a:latin typeface="Aptos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88136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 i="0">
                <a:solidFill>
                  <a:srgbClr val="0C7058"/>
                </a:solidFill>
                <a:latin typeface="Aptos"/>
              </a:rPr>
              <a:t>10. Proje döngüsü: problemden kolektif çözüme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554480"/>
            <a:ext cx="3337560" cy="1600200"/>
          </a:xfrm>
          <a:prstGeom prst="roundRect">
            <a:avLst/>
          </a:prstGeom>
          <a:solidFill>
            <a:srgbClr val="F2F7F5"/>
          </a:solidFill>
          <a:ln>
            <a:solidFill>
              <a:srgbClr val="0C70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58952" y="1719072"/>
            <a:ext cx="457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 i="0">
                <a:solidFill>
                  <a:srgbClr val="D0A54B"/>
                </a:solidFill>
                <a:latin typeface="Aptos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07592" y="1691639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700" b="1" i="0">
                <a:solidFill>
                  <a:srgbClr val="0C7058"/>
                </a:solidFill>
                <a:latin typeface="Aptos"/>
              </a:rPr>
              <a:t>Problem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07592" y="2194560"/>
            <a:ext cx="22860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 i="0">
                <a:solidFill>
                  <a:srgbClr val="19272D"/>
                </a:solidFill>
                <a:latin typeface="Aptos"/>
              </a:rPr>
              <a:t>Gerçek ihtiyaç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554480"/>
            <a:ext cx="3337560" cy="1600200"/>
          </a:xfrm>
          <a:prstGeom prst="roundRect">
            <a:avLst/>
          </a:prstGeom>
          <a:solidFill>
            <a:srgbClr val="F2F7F5"/>
          </a:solidFill>
          <a:ln>
            <a:solidFill>
              <a:srgbClr val="0C70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53712" y="1719072"/>
            <a:ext cx="457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 i="0">
                <a:solidFill>
                  <a:srgbClr val="D0A54B"/>
                </a:solidFill>
                <a:latin typeface="Aptos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102352" y="1691639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700" b="1" i="0">
                <a:solidFill>
                  <a:srgbClr val="0C7058"/>
                </a:solidFill>
                <a:latin typeface="Aptos"/>
              </a:rPr>
              <a:t>Mikro katkı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102352" y="2194560"/>
            <a:ext cx="22860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 i="0">
                <a:solidFill>
                  <a:srgbClr val="19272D"/>
                </a:solidFill>
                <a:latin typeface="Aptos"/>
              </a:rPr>
              <a:t>Öğrenci / bölüm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83880" y="1554480"/>
            <a:ext cx="3337560" cy="1600200"/>
          </a:xfrm>
          <a:prstGeom prst="roundRect">
            <a:avLst/>
          </a:prstGeom>
          <a:solidFill>
            <a:srgbClr val="F2F7F5"/>
          </a:solidFill>
          <a:ln>
            <a:solidFill>
              <a:srgbClr val="0C70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48472" y="1719072"/>
            <a:ext cx="457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 i="0">
                <a:solidFill>
                  <a:srgbClr val="D0A54B"/>
                </a:solidFill>
                <a:latin typeface="Aptos"/>
              </a:rP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897112" y="1691639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700" b="1" i="0">
                <a:solidFill>
                  <a:srgbClr val="0C7058"/>
                </a:solidFill>
                <a:latin typeface="Aptos"/>
              </a:rPr>
              <a:t>Birleşme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97112" y="2194560"/>
            <a:ext cx="22860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 i="0">
                <a:solidFill>
                  <a:srgbClr val="19272D"/>
                </a:solidFill>
                <a:latin typeface="Aptos"/>
              </a:rPr>
              <a:t>Disiplinlerarası ağ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94360" y="3703320"/>
            <a:ext cx="3337560" cy="1600200"/>
          </a:xfrm>
          <a:prstGeom prst="roundRect">
            <a:avLst/>
          </a:prstGeom>
          <a:solidFill>
            <a:srgbClr val="F2F7F5"/>
          </a:solidFill>
          <a:ln>
            <a:solidFill>
              <a:srgbClr val="0C70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58952" y="3867911"/>
            <a:ext cx="457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 i="0">
                <a:solidFill>
                  <a:srgbClr val="D0A54B"/>
                </a:solidFill>
                <a:latin typeface="Aptos"/>
              </a:rPr>
              <a:t>04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07592" y="384048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700" b="1" i="0">
                <a:solidFill>
                  <a:srgbClr val="0C7058"/>
                </a:solidFill>
                <a:latin typeface="Aptos"/>
              </a:rPr>
              <a:t>Doğrulama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07592" y="4343400"/>
            <a:ext cx="22860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 i="0">
                <a:solidFill>
                  <a:srgbClr val="19272D"/>
                </a:solidFill>
                <a:latin typeface="Aptos"/>
              </a:rPr>
              <a:t>Kaynak + uzman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389120" y="3703320"/>
            <a:ext cx="3337560" cy="1600200"/>
          </a:xfrm>
          <a:prstGeom prst="roundRect">
            <a:avLst/>
          </a:prstGeom>
          <a:solidFill>
            <a:srgbClr val="F2F7F5"/>
          </a:solidFill>
          <a:ln>
            <a:solidFill>
              <a:srgbClr val="0C70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53712" y="3867911"/>
            <a:ext cx="457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 i="0">
                <a:solidFill>
                  <a:srgbClr val="D0A54B"/>
                </a:solidFill>
                <a:latin typeface="Aptos"/>
              </a:rPr>
              <a:t>05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02352" y="384048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700" b="1" i="0">
                <a:solidFill>
                  <a:srgbClr val="0C7058"/>
                </a:solidFill>
                <a:latin typeface="Aptos"/>
              </a:rPr>
              <a:t>Prototip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102352" y="4343400"/>
            <a:ext cx="22860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 i="0">
                <a:solidFill>
                  <a:srgbClr val="19272D"/>
                </a:solidFill>
                <a:latin typeface="Aptos"/>
              </a:rPr>
              <a:t>Çözüm / politika / ürün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183880" y="3703320"/>
            <a:ext cx="3337560" cy="1600200"/>
          </a:xfrm>
          <a:prstGeom prst="roundRect">
            <a:avLst/>
          </a:prstGeom>
          <a:solidFill>
            <a:srgbClr val="F2F7F5"/>
          </a:solidFill>
          <a:ln>
            <a:solidFill>
              <a:srgbClr val="0C70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348472" y="3867911"/>
            <a:ext cx="457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 i="0">
                <a:solidFill>
                  <a:srgbClr val="D0A54B"/>
                </a:solidFill>
                <a:latin typeface="Aptos"/>
              </a:rPr>
              <a:t>06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897112" y="384048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700" b="1" i="0">
                <a:solidFill>
                  <a:srgbClr val="0C7058"/>
                </a:solidFill>
                <a:latin typeface="Aptos"/>
              </a:rPr>
              <a:t>Geri bildirim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897112" y="4343400"/>
            <a:ext cx="22860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 i="0">
                <a:solidFill>
                  <a:srgbClr val="19272D"/>
                </a:solidFill>
                <a:latin typeface="Aptos"/>
              </a:rPr>
              <a:t>Saha ve paydaş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" y="6510528"/>
            <a:ext cx="8961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0" i="0">
                <a:solidFill>
                  <a:srgbClr val="646E73"/>
                </a:solidFill>
                <a:latin typeface="Aptos"/>
              </a:rPr>
              <a:t>GO TO ANT  ·  ÇOMÜ Mikro Yapay Zekâ Ekosistemi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155680" y="6473952"/>
            <a:ext cx="3657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0" i="0">
                <a:solidFill>
                  <a:srgbClr val="646E73"/>
                </a:solidFill>
                <a:latin typeface="Aptos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70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  <a:latin typeface="Aptos"/>
              </a:rPr>
              <a:t>11. Sonuç: Ders değil, bir ekosistem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737360"/>
            <a:ext cx="28346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900" b="1" i="0">
                <a:solidFill>
                  <a:srgbClr val="FFFFFF"/>
                </a:solidFill>
                <a:latin typeface="Aptos"/>
              </a:rPr>
              <a:t>İlk 4 hafta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331720"/>
            <a:ext cx="283464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700" b="0" i="0">
                <a:solidFill>
                  <a:srgbClr val="FFFFFF"/>
                </a:solidFill>
                <a:latin typeface="Aptos"/>
              </a:rPr>
              <a:t>AI okuryazarlığı
+ güvenli kullanım
+ problem bulma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60520" y="2148840"/>
            <a:ext cx="7315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800" b="1" i="0">
                <a:solidFill>
                  <a:srgbClr val="DCEEE8"/>
                </a:solidFill>
                <a:latin typeface="Aptos"/>
              </a:rPr>
              <a:t>+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892040" y="1737360"/>
            <a:ext cx="28346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900" b="1" i="0">
                <a:solidFill>
                  <a:srgbClr val="FFFFFF"/>
                </a:solidFill>
                <a:latin typeface="Aptos"/>
              </a:rPr>
              <a:t>Go to Ant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92040" y="2331720"/>
            <a:ext cx="283464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700" b="0" i="0">
                <a:solidFill>
                  <a:srgbClr val="FFFFFF"/>
                </a:solidFill>
                <a:latin typeface="Aptos"/>
              </a:rPr>
              <a:t>kolektif zekâ
+ mikro yapılar
+ multi-agent düşüncesi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55279" y="2148840"/>
            <a:ext cx="7315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800" b="1" i="0">
                <a:solidFill>
                  <a:srgbClr val="DCEEE8"/>
                </a:solidFill>
                <a:latin typeface="Aptos"/>
              </a:rPr>
              <a:t>=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95360" y="1737360"/>
            <a:ext cx="24688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900" b="1" i="0">
                <a:solidFill>
                  <a:srgbClr val="FFFFFF"/>
                </a:solidFill>
                <a:latin typeface="Aptos"/>
              </a:rPr>
              <a:t>ÇOMÜ Ekosistemi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95360" y="2331720"/>
            <a:ext cx="246888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700" b="0" i="0">
                <a:solidFill>
                  <a:srgbClr val="FFFFFF"/>
                </a:solidFill>
                <a:latin typeface="Aptos"/>
              </a:rPr>
              <a:t>47.000 öğrenci
+ akademi
+ Çanakkale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3000" y="4663440"/>
            <a:ext cx="987552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700" b="0" i="1">
                <a:solidFill>
                  <a:srgbClr val="FFFFFF"/>
                </a:solidFill>
                <a:latin typeface="Aptos"/>
              </a:rPr>
              <a:t>“Tek bir karınca çok şey yapamaz; doğru kurallar ve iletişimle koloni karmaşık problemleri çözebilir.”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" y="5806440"/>
            <a:ext cx="9875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 i="0">
                <a:solidFill>
                  <a:srgbClr val="CDE6DE"/>
                </a:solidFill>
                <a:latin typeface="Aptos"/>
              </a:rPr>
              <a:t>Bir sonraki çalışma: 14–15 haftalık ders + yönetim mimarisi + paydaş modeli + proje havuzu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