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212"/>
          </a:solidFill>
          <a:ln>
            <a:solidFill>
              <a:srgbClr val="1212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11680"/>
            <a:ext cx="10362895" cy="3200400"/>
          </a:xfrm>
          <a:prstGeom prst="rect">
            <a:avLst/>
          </a:prstGeom>
          <a:noFill/>
        </p:spPr>
        <p:txBody>
          <a:bodyPr wrap="square">
            <a:spAutoFit/>
          </a:bodyPr>
          <a:lstStyle/>
          <a:p>
            <a:pPr algn="l">
              <a:defRPr sz="2800" b="1">
                <a:solidFill>
                  <a:srgbClr val="B4B4B4"/>
                </a:solidFill>
                <a:latin typeface="Arial"/>
              </a:defRPr>
            </a:pPr>
            <a:r>
              <a:t>ÇÖMÜ · YAPAY ZEKA MİKRO KULLANIMI</a:t>
            </a:r>
          </a:p>
          <a:p>
            <a:pPr algn="l">
              <a:spcBef>
                <a:spcPts val="2000"/>
              </a:spcBef>
              <a:defRPr sz="4400" b="1">
                <a:solidFill>
                  <a:srgbClr val="FFFFFF"/>
                </a:solidFill>
                <a:latin typeface="Arial"/>
              </a:defRPr>
            </a:pPr>
            <a:r>
              <a:t>14 Haftalık Stratejik Platform Dağılımı</a:t>
            </a:r>
            <a:br/>
            <a:r>
              <a:t>ve Ders İzlencesi Sunumu</a:t>
            </a:r>
          </a:p>
          <a:p>
            <a:pPr algn="l">
              <a:spcBef>
                <a:spcPts val="4000"/>
              </a:spcBef>
              <a:defRPr sz="1800">
                <a:solidFill>
                  <a:srgbClr val="D97706"/>
                </a:solidFill>
                <a:latin typeface="Arial"/>
              </a:defRPr>
            </a:pPr>
            <a:r>
              <a:t>Proje Adı: Go to Ant  |  Hazırlayan: [Ad Soyad]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212"/>
          </a:solidFill>
          <a:ln>
            <a:solidFill>
              <a:srgbClr val="1212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48640"/>
            <a:ext cx="10362895" cy="914400"/>
          </a:xfrm>
          <a:prstGeom prst="rect">
            <a:avLst/>
          </a:prstGeom>
          <a:noFill/>
        </p:spPr>
        <p:txBody>
          <a:bodyPr wrap="none">
            <a:spAutoFit/>
          </a:bodyPr>
          <a:lstStyle/>
          <a:p>
            <a:pPr>
              <a:defRPr sz="2800" b="1">
                <a:solidFill>
                  <a:srgbClr val="FFFFFF"/>
                </a:solidFill>
                <a:latin typeface="Arial"/>
              </a:defRPr>
            </a:pPr>
            <a:r>
              <a:t>Neden Hibrit Strateji? (Neden Tek Platform Yetmez?)</a:t>
            </a:r>
          </a:p>
        </p:txBody>
      </p:sp>
      <p:sp>
        <p:nvSpPr>
          <p:cNvPr id="4" name="Rectangle 3"/>
          <p:cNvSpPr/>
          <p:nvPr/>
        </p:nvSpPr>
        <p:spPr>
          <a:xfrm>
            <a:off x="914400" y="2011680"/>
            <a:ext cx="3200400" cy="4114800"/>
          </a:xfrm>
          <a:prstGeom prst="rect">
            <a:avLst/>
          </a:prstGeom>
          <a:solidFill>
            <a:srgbClr val="1C1C1C"/>
          </a:solidFill>
          <a:ln w="254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2194560"/>
            <a:ext cx="2834640" cy="3749040"/>
          </a:xfrm>
          <a:prstGeom prst="rect">
            <a:avLst/>
          </a:prstGeom>
          <a:noFill/>
        </p:spPr>
        <p:txBody>
          <a:bodyPr wrap="square">
            <a:spAutoFit/>
          </a:bodyPr>
          <a:lstStyle/>
          <a:p>
            <a:pPr>
              <a:defRPr sz="2200" b="1">
                <a:solidFill>
                  <a:srgbClr val="D97706"/>
                </a:solidFill>
                <a:latin typeface="Arial"/>
              </a:defRPr>
            </a:pPr>
            <a:r>
              <a:t>Claude (Anthropic)</a:t>
            </a:r>
          </a:p>
          <a:p>
            <a:pPr>
              <a:spcBef>
                <a:spcPts val="1500"/>
              </a:spcBef>
              <a:defRPr sz="1500">
                <a:solidFill>
                  <a:srgbClr val="E6E6E6"/>
                </a:solidFill>
                <a:latin typeface="Arial"/>
              </a:defRPr>
            </a:pPr>
            <a:r>
              <a:t>Sadece Claude Kullanılırsa:</a:t>
            </a:r>
            <a:br/>
            <a:br/>
            <a:r>
              <a:t>Öğrenciler mükemmel kod okur, analiz yapar ve mantık kavrar. Ancak canlı veri işleme, otomatik grafik üretme veya ofis araçları (Excel/Word) entegrasyonunda pratik dünyadan uzak kalırlar.</a:t>
            </a:r>
          </a:p>
        </p:txBody>
      </p:sp>
      <p:sp>
        <p:nvSpPr>
          <p:cNvPr id="6" name="Rectangle 5"/>
          <p:cNvSpPr/>
          <p:nvPr/>
        </p:nvSpPr>
        <p:spPr>
          <a:xfrm>
            <a:off x="4480560" y="2011680"/>
            <a:ext cx="3200400" cy="4114800"/>
          </a:xfrm>
          <a:prstGeom prst="rect">
            <a:avLst/>
          </a:prstGeom>
          <a:solidFill>
            <a:srgbClr val="1C1C1C"/>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63440" y="2194560"/>
            <a:ext cx="2834640" cy="3749040"/>
          </a:xfrm>
          <a:prstGeom prst="rect">
            <a:avLst/>
          </a:prstGeom>
          <a:noFill/>
        </p:spPr>
        <p:txBody>
          <a:bodyPr wrap="square">
            <a:spAutoFit/>
          </a:bodyPr>
          <a:lstStyle/>
          <a:p>
            <a:pPr>
              <a:defRPr sz="2200" b="1">
                <a:solidFill>
                  <a:srgbClr val="2563EB"/>
                </a:solidFill>
                <a:latin typeface="Arial"/>
              </a:defRPr>
            </a:pPr>
            <a:r>
              <a:t>Microsoft Copilot</a:t>
            </a:r>
          </a:p>
          <a:p>
            <a:pPr>
              <a:spcBef>
                <a:spcPts val="1500"/>
              </a:spcBef>
              <a:defRPr sz="1500">
                <a:solidFill>
                  <a:srgbClr val="E6E6E6"/>
                </a:solidFill>
                <a:latin typeface="Arial"/>
              </a:defRPr>
            </a:pPr>
            <a:r>
              <a:t>Sadece Microsoft Kullanılırsa:</a:t>
            </a:r>
            <a:br/>
            <a:br/>
            <a:r>
              <a:t>Kurumsal e-posta entegrasyonu ve günlük ofis pratikleri çok kolaylaşır. Fakat öğrenciler derin akıl yürütme (reasoning) gerektiren karmaşık kod yapılarını ve algoritmik mantığı anlamakta zorlanabilir.</a:t>
            </a:r>
          </a:p>
        </p:txBody>
      </p:sp>
      <p:sp>
        <p:nvSpPr>
          <p:cNvPr id="8" name="Rectangle 7"/>
          <p:cNvSpPr/>
          <p:nvPr/>
        </p:nvSpPr>
        <p:spPr>
          <a:xfrm>
            <a:off x="8046720" y="2011680"/>
            <a:ext cx="3200400" cy="4114800"/>
          </a:xfrm>
          <a:prstGeom prst="rect">
            <a:avLst/>
          </a:prstGeom>
          <a:solidFill>
            <a:srgbClr val="1C1C1C"/>
          </a:solidFill>
          <a:ln w="2540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2194560"/>
            <a:ext cx="2834640" cy="3749040"/>
          </a:xfrm>
          <a:prstGeom prst="rect">
            <a:avLst/>
          </a:prstGeom>
          <a:noFill/>
        </p:spPr>
        <p:txBody>
          <a:bodyPr wrap="square">
            <a:spAutoFit/>
          </a:bodyPr>
          <a:lstStyle/>
          <a:p>
            <a:pPr>
              <a:defRPr sz="2200" b="1">
                <a:solidFill>
                  <a:srgbClr val="16A34A"/>
                </a:solidFill>
                <a:latin typeface="Arial"/>
              </a:defRPr>
            </a:pPr>
            <a:r>
              <a:t>ChatGPT (OpenAI)</a:t>
            </a:r>
          </a:p>
          <a:p>
            <a:pPr>
              <a:spcBef>
                <a:spcPts val="1500"/>
              </a:spcBef>
              <a:defRPr sz="1500">
                <a:solidFill>
                  <a:srgbClr val="E6E6E6"/>
                </a:solidFill>
                <a:latin typeface="Arial"/>
              </a:defRPr>
            </a:pPr>
            <a:r>
              <a:t>Sadece ChatGPT Kullanılırsa:</a:t>
            </a:r>
            <a:br/>
            <a:br/>
            <a:r>
              <a:t>Çok yönlü ve popüler bir ekosistemdir. Ancak ücretsiz sürümdeki yoğun saat kısıtlamaları ve mesaj sınırları, 47.000 öğrencilik kalabalık sınıflarda ders işlemeyi sürdürülemez kılar.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212"/>
          </a:solidFill>
          <a:ln>
            <a:solidFill>
              <a:srgbClr val="1212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10362895" cy="731520"/>
          </a:xfrm>
          <a:prstGeom prst="rect">
            <a:avLst/>
          </a:prstGeom>
          <a:noFill/>
        </p:spPr>
        <p:txBody>
          <a:bodyPr wrap="none">
            <a:spAutoFit/>
          </a:bodyPr>
          <a:lstStyle/>
          <a:p>
            <a:pPr>
              <a:defRPr sz="2800" b="1">
                <a:solidFill>
                  <a:srgbClr val="FFFFFF"/>
                </a:solidFill>
                <a:latin typeface="Arial"/>
              </a:defRPr>
            </a:pPr>
            <a:r>
              <a:t>14 Haftalık Genel Platform Dağılımı</a:t>
            </a:r>
          </a:p>
        </p:txBody>
      </p:sp>
      <p:graphicFrame>
        <p:nvGraphicFramePr>
          <p:cNvPr id="4" name="Table 3"/>
          <p:cNvGraphicFramePr>
            <a:graphicFrameLocks noGrp="1"/>
          </p:cNvGraphicFramePr>
          <p:nvPr/>
        </p:nvGraphicFramePr>
        <p:xfrm>
          <a:off x="914400" y="1463040"/>
          <a:ext cx="10362895" cy="4572000"/>
        </p:xfrm>
        <a:graphic>
          <a:graphicData uri="http://schemas.openxmlformats.org/drawingml/2006/table">
            <a:tbl>
              <a:tblPr firstRow="1" bandRow="1">
                <a:tableStyleId>{5C22544A-7EE6-4342-B048-85BDC9FD1C3A}</a:tableStyleId>
              </a:tblPr>
              <a:tblGrid>
                <a:gridCol w="1645920"/>
                <a:gridCol w="2286000"/>
                <a:gridCol w="2286000"/>
                <a:gridCol w="4144975"/>
              </a:tblGrid>
              <a:tr h="914400">
                <a:tc>
                  <a:txBody>
                    <a:bodyPr/>
                    <a:lstStyle/>
                    <a:p>
                      <a:pPr algn="ctr">
                        <a:defRPr sz="1600" b="1">
                          <a:solidFill>
                            <a:srgbClr val="FFFFFF"/>
                          </a:solidFill>
                          <a:latin typeface="Arial"/>
                        </a:defRPr>
                      </a:pPr>
                      <a:r>
                        <a:t>Dönem / Hafta</a:t>
                      </a:r>
                    </a:p>
                  </a:txBody>
                  <a:tcPr>
                    <a:solidFill>
                      <a:srgbClr val="282828"/>
                    </a:solidFill>
                  </a:tcPr>
                </a:tc>
                <a:tc>
                  <a:txBody>
                    <a:bodyPr/>
                    <a:lstStyle/>
                    <a:p>
                      <a:pPr algn="ctr">
                        <a:defRPr sz="1600" b="1">
                          <a:solidFill>
                            <a:srgbClr val="FFFFFF"/>
                          </a:solidFill>
                          <a:latin typeface="Arial"/>
                        </a:defRPr>
                      </a:pPr>
                      <a:r>
                        <a:t>Odak Noktası</a:t>
                      </a:r>
                    </a:p>
                  </a:txBody>
                  <a:tcPr>
                    <a:solidFill>
                      <a:srgbClr val="282828"/>
                    </a:solidFill>
                  </a:tcPr>
                </a:tc>
                <a:tc>
                  <a:txBody>
                    <a:bodyPr/>
                    <a:lstStyle/>
                    <a:p>
                      <a:pPr algn="ctr">
                        <a:defRPr sz="1600" b="1">
                          <a:solidFill>
                            <a:srgbClr val="FFFFFF"/>
                          </a:solidFill>
                          <a:latin typeface="Arial"/>
                        </a:defRPr>
                      </a:pPr>
                      <a:r>
                        <a:t>Yapay Zeka Aracı</a:t>
                      </a:r>
                    </a:p>
                  </a:txBody>
                  <a:tcPr>
                    <a:solidFill>
                      <a:srgbClr val="282828"/>
                    </a:solidFill>
                  </a:tcPr>
                </a:tc>
                <a:tc>
                  <a:txBody>
                    <a:bodyPr/>
                    <a:lstStyle/>
                    <a:p>
                      <a:pPr algn="ctr">
                        <a:defRPr sz="1600" b="1">
                          <a:solidFill>
                            <a:srgbClr val="FFFFFF"/>
                          </a:solidFill>
                          <a:latin typeface="Arial"/>
                        </a:defRPr>
                      </a:pPr>
                      <a:r>
                        <a:t>Stratejik Gerekçe</a:t>
                      </a:r>
                    </a:p>
                  </a:txBody>
                  <a:tcPr>
                    <a:solidFill>
                      <a:srgbClr val="282828"/>
                    </a:solidFill>
                  </a:tcPr>
                </a:tc>
              </a:tr>
              <a:tr h="914400">
                <a:tc>
                  <a:txBody>
                    <a:bodyPr/>
                    <a:lstStyle/>
                    <a:p>
                      <a:pPr algn="ctr">
                        <a:defRPr sz="1400" b="1">
                          <a:solidFill>
                            <a:srgbClr val="E6E6E6"/>
                          </a:solidFill>
                          <a:latin typeface="Arial"/>
                        </a:defRPr>
                      </a:pPr>
                      <a:r>
                        <a:t>1 - 4. Haftalar</a:t>
                      </a:r>
                    </a:p>
                  </a:txBody>
                  <a:tcPr>
                    <a:solidFill>
                      <a:srgbClr val="181818"/>
                    </a:solidFill>
                  </a:tcPr>
                </a:tc>
                <a:tc>
                  <a:txBody>
                    <a:bodyPr/>
                    <a:lstStyle/>
                    <a:p>
                      <a:pPr algn="ctr">
                        <a:defRPr sz="1400" b="1">
                          <a:solidFill>
                            <a:srgbClr val="E6E6E6"/>
                          </a:solidFill>
                          <a:latin typeface="Arial"/>
                        </a:defRPr>
                      </a:pPr>
                      <a:r>
                        <a:t>Temel Okuryazarlık, Prompt &amp; Kod Okuma</a:t>
                      </a:r>
                    </a:p>
                  </a:txBody>
                  <a:tcPr>
                    <a:solidFill>
                      <a:srgbClr val="181818"/>
                    </a:solidFill>
                  </a:tcPr>
                </a:tc>
                <a:tc>
                  <a:txBody>
                    <a:bodyPr/>
                    <a:lstStyle/>
                    <a:p>
                      <a:pPr algn="ctr">
                        <a:defRPr sz="1400" b="1">
                          <a:solidFill>
                            <a:srgbClr val="D97706"/>
                          </a:solidFill>
                          <a:latin typeface="Arial"/>
                        </a:defRPr>
                      </a:pPr>
                      <a:r>
                        <a:t>Claude (Anthropic)</a:t>
                      </a:r>
                    </a:p>
                  </a:txBody>
                  <a:tcPr>
                    <a:solidFill>
                      <a:srgbClr val="181818"/>
                    </a:solidFill>
                  </a:tcPr>
                </a:tc>
                <a:tc>
                  <a:txBody>
                    <a:bodyPr/>
                    <a:lstStyle/>
                    <a:p>
                      <a:pPr algn="l">
                        <a:defRPr sz="1400">
                          <a:solidFill>
                            <a:srgbClr val="E6E6E6"/>
                          </a:solidFill>
                          <a:latin typeface="Arial"/>
                        </a:defRPr>
                      </a:pPr>
                      <a:r>
                        <a:t>Türkçe dil hakimiyeti en yüksek, anlatımı en insani ve pedagojik modeldir. Kod yazmadan kodun mantığını kavratır.</a:t>
                      </a:r>
                    </a:p>
                  </a:txBody>
                  <a:tcPr>
                    <a:solidFill>
                      <a:srgbClr val="181818"/>
                    </a:solidFill>
                  </a:tcPr>
                </a:tc>
              </a:tr>
              <a:tr h="914400">
                <a:tc>
                  <a:txBody>
                    <a:bodyPr/>
                    <a:lstStyle/>
                    <a:p>
                      <a:pPr algn="ctr">
                        <a:defRPr sz="1400" b="1">
                          <a:solidFill>
                            <a:srgbClr val="E6E6E6"/>
                          </a:solidFill>
                          <a:latin typeface="Arial"/>
                        </a:defRPr>
                      </a:pPr>
                      <a:r>
                        <a:t>5 - 8. Haftalar</a:t>
                      </a:r>
                    </a:p>
                  </a:txBody>
                  <a:tcPr>
                    <a:solidFill>
                      <a:srgbClr val="181818"/>
                    </a:solidFill>
                  </a:tcPr>
                </a:tc>
                <a:tc>
                  <a:txBody>
                    <a:bodyPr/>
                    <a:lstStyle/>
                    <a:p>
                      <a:pPr algn="ctr">
                        <a:defRPr sz="1400" b="1">
                          <a:solidFill>
                            <a:srgbClr val="E6E6E6"/>
                          </a:solidFill>
                          <a:latin typeface="Arial"/>
                        </a:defRPr>
                      </a:pPr>
                      <a:r>
                        <a:t>Mikro Üretkenlik, Tablo Yönetimi &amp; Ofis</a:t>
                      </a:r>
                    </a:p>
                  </a:txBody>
                  <a:tcPr>
                    <a:solidFill>
                      <a:srgbClr val="181818"/>
                    </a:solidFill>
                  </a:tcPr>
                </a:tc>
                <a:tc>
                  <a:txBody>
                    <a:bodyPr/>
                    <a:lstStyle/>
                    <a:p>
                      <a:pPr algn="ctr">
                        <a:defRPr sz="1400" b="1">
                          <a:solidFill>
                            <a:srgbClr val="2563EB"/>
                          </a:solidFill>
                          <a:latin typeface="Arial"/>
                        </a:defRPr>
                      </a:pPr>
                      <a:r>
                        <a:t>Microsoft Copilot</a:t>
                      </a:r>
                    </a:p>
                  </a:txBody>
                  <a:tcPr>
                    <a:solidFill>
                      <a:srgbClr val="181818"/>
                    </a:solidFill>
                  </a:tcPr>
                </a:tc>
                <a:tc>
                  <a:txBody>
                    <a:bodyPr/>
                    <a:lstStyle/>
                    <a:p>
                      <a:pPr algn="l">
                        <a:defRPr sz="1400">
                          <a:solidFill>
                            <a:srgbClr val="E6E6E6"/>
                          </a:solidFill>
                          <a:latin typeface="Arial"/>
                        </a:defRPr>
                      </a:pPr>
                      <a:r>
                        <a:t>Öğrencilerin @comu.edu.tr e-postalarıyla entegre çalışır. Word, Excel ve PowerPoint dünyasında pratik asistanlık sağlar.</a:t>
                      </a:r>
                    </a:p>
                  </a:txBody>
                  <a:tcPr>
                    <a:solidFill>
                      <a:srgbClr val="181818"/>
                    </a:solidFill>
                  </a:tcPr>
                </a:tc>
              </a:tr>
              <a:tr h="914400">
                <a:tc>
                  <a:txBody>
                    <a:bodyPr/>
                    <a:lstStyle/>
                    <a:p>
                      <a:pPr algn="ctr">
                        <a:defRPr sz="1400" b="1">
                          <a:solidFill>
                            <a:srgbClr val="E6E6E6"/>
                          </a:solidFill>
                          <a:latin typeface="Arial"/>
                        </a:defRPr>
                      </a:pPr>
                      <a:r>
                        <a:t>9 - 12. Haftalar</a:t>
                      </a:r>
                    </a:p>
                  </a:txBody>
                  <a:tcPr>
                    <a:solidFill>
                      <a:srgbClr val="181818"/>
                    </a:solidFill>
                  </a:tcPr>
                </a:tc>
                <a:tc>
                  <a:txBody>
                    <a:bodyPr/>
                    <a:lstStyle/>
                    <a:p>
                      <a:pPr algn="ctr">
                        <a:defRPr sz="1400" b="1">
                          <a:solidFill>
                            <a:srgbClr val="E6E6E6"/>
                          </a:solidFill>
                          <a:latin typeface="Arial"/>
                        </a:defRPr>
                      </a:pPr>
                      <a:r>
                        <a:t>İleri Analiz, Grafik Üretimi &amp; Özel GPT</a:t>
                      </a:r>
                    </a:p>
                  </a:txBody>
                  <a:tcPr>
                    <a:solidFill>
                      <a:srgbClr val="181818"/>
                    </a:solidFill>
                  </a:tcPr>
                </a:tc>
                <a:tc>
                  <a:txBody>
                    <a:bodyPr/>
                    <a:lstStyle/>
                    <a:p>
                      <a:pPr algn="ctr">
                        <a:defRPr sz="1400" b="1">
                          <a:solidFill>
                            <a:srgbClr val="16A34A"/>
                          </a:solidFill>
                          <a:latin typeface="Arial"/>
                        </a:defRPr>
                      </a:pPr>
                      <a:r>
                        <a:t>ChatGPT (OpenAI)</a:t>
                      </a:r>
                    </a:p>
                  </a:txBody>
                  <a:tcPr>
                    <a:solidFill>
                      <a:srgbClr val="181818"/>
                    </a:solidFill>
                  </a:tcPr>
                </a:tc>
                <a:tc>
                  <a:txBody>
                    <a:bodyPr/>
                    <a:lstStyle/>
                    <a:p>
                      <a:pPr algn="l">
                        <a:defRPr sz="1400">
                          <a:solidFill>
                            <a:srgbClr val="E6E6E6"/>
                          </a:solidFill>
                          <a:latin typeface="Arial"/>
                        </a:defRPr>
                      </a:pPr>
                      <a:r>
                        <a:t>Canlı internet taraması, arka planda Python çalıştırma ve öğrencilerin kendi alanlarına özel GPT asistanı yapmaları için en gelişmiş altyapıdır.</a:t>
                      </a:r>
                    </a:p>
                  </a:txBody>
                  <a:tcPr>
                    <a:solidFill>
                      <a:srgbClr val="181818"/>
                    </a:solidFill>
                  </a:tcPr>
                </a:tc>
              </a:tr>
              <a:tr h="914400">
                <a:tc>
                  <a:txBody>
                    <a:bodyPr/>
                    <a:lstStyle/>
                    <a:p>
                      <a:pPr algn="ctr">
                        <a:defRPr sz="1400" b="1">
                          <a:solidFill>
                            <a:srgbClr val="E6E6E6"/>
                          </a:solidFill>
                          <a:latin typeface="Arial"/>
                        </a:defRPr>
                      </a:pPr>
                      <a:r>
                        <a:t>13 - 14. Haftalar</a:t>
                      </a:r>
                    </a:p>
                  </a:txBody>
                  <a:tcPr>
                    <a:solidFill>
                      <a:srgbClr val="181818"/>
                    </a:solidFill>
                  </a:tcPr>
                </a:tc>
                <a:tc>
                  <a:txBody>
                    <a:bodyPr/>
                    <a:lstStyle/>
                    <a:p>
                      <a:pPr algn="ctr">
                        <a:defRPr sz="1400" b="1">
                          <a:solidFill>
                            <a:srgbClr val="E6E6E6"/>
                          </a:solidFill>
                          <a:latin typeface="Arial"/>
                        </a:defRPr>
                      </a:pPr>
                      <a:r>
                        <a:t>Bilişim Modülü &amp; Koloni Kapanışı</a:t>
                      </a:r>
                    </a:p>
                  </a:txBody>
                  <a:tcPr>
                    <a:solidFill>
                      <a:srgbClr val="181818"/>
                    </a:solidFill>
                  </a:tcPr>
                </a:tc>
                <a:tc>
                  <a:txBody>
                    <a:bodyPr/>
                    <a:lstStyle/>
                    <a:p>
                      <a:pPr algn="ctr">
                        <a:defRPr sz="1400" b="1">
                          <a:solidFill>
                            <a:srgbClr val="D97706"/>
                          </a:solidFill>
                          <a:latin typeface="Arial"/>
                        </a:defRPr>
                      </a:pPr>
                      <a:r>
                        <a:t>Claude Code / DeepSeek</a:t>
                      </a:r>
                    </a:p>
                  </a:txBody>
                  <a:tcPr>
                    <a:solidFill>
                      <a:srgbClr val="181818"/>
                    </a:solidFill>
                  </a:tcPr>
                </a:tc>
                <a:tc>
                  <a:txBody>
                    <a:bodyPr/>
                    <a:lstStyle/>
                    <a:p>
                      <a:pPr algn="l">
                        <a:defRPr sz="1400">
                          <a:solidFill>
                            <a:srgbClr val="E6E6E6"/>
                          </a:solidFill>
                          <a:latin typeface="Arial"/>
                        </a:defRPr>
                      </a:pPr>
                      <a:r>
                        <a:t>Mühendislik öğrencileri terminal tabanlı otonom kodlamayı incelerken, genel öğrenciler mikro-projelerini sunar.</a:t>
                      </a:r>
                    </a:p>
                  </a:txBody>
                  <a:tcPr>
                    <a:solidFill>
                      <a:srgbClr val="181818"/>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212"/>
          </a:solidFill>
          <a:ln>
            <a:solidFill>
              <a:srgbClr val="1212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48640"/>
            <a:ext cx="10362895" cy="914400"/>
          </a:xfrm>
          <a:prstGeom prst="rect">
            <a:avLst/>
          </a:prstGeom>
          <a:noFill/>
        </p:spPr>
        <p:txBody>
          <a:bodyPr wrap="none">
            <a:spAutoFit/>
          </a:bodyPr>
          <a:lstStyle/>
          <a:p>
            <a:pPr>
              <a:defRPr sz="2800" b="1">
                <a:solidFill>
                  <a:srgbClr val="D97706"/>
                </a:solidFill>
                <a:latin typeface="Arial"/>
              </a:defRPr>
            </a:pPr>
            <a:r>
              <a:t>1. Aşama: Claude ile Ortak Çekirdek (1 - 4. Haftalar)</a:t>
            </a:r>
          </a:p>
        </p:txBody>
      </p:sp>
      <p:sp>
        <p:nvSpPr>
          <p:cNvPr id="4" name="TextBox 3"/>
          <p:cNvSpPr txBox="1"/>
          <p:nvPr/>
        </p:nvSpPr>
        <p:spPr>
          <a:xfrm>
            <a:off x="914400" y="1645920"/>
            <a:ext cx="10362895" cy="4572000"/>
          </a:xfrm>
          <a:prstGeom prst="rect">
            <a:avLst/>
          </a:prstGeom>
          <a:noFill/>
        </p:spPr>
        <p:txBody>
          <a:bodyPr wrap="square">
            <a:spAutoFit/>
          </a:bodyPr>
          <a:lstStyle/>
          <a:p>
            <a:pPr>
              <a:spcBef>
                <a:spcPts val="1200"/>
              </a:spcBef>
              <a:defRPr sz="1600">
                <a:latin typeface="Arial"/>
              </a:defRPr>
            </a:pPr>
            <a:r>
              <a:rPr b="1">
                <a:solidFill>
                  <a:srgbClr val="FFFFFF"/>
                </a:solidFill>
              </a:rPr>
              <a:t>1. Hafta: Yapay Zeka Ekosistemi ve LLM Anatomisi</a:t>
            </a:r>
            <a:r>
              <a:rPr b="0">
                <a:solidFill>
                  <a:srgbClr val="E6E6E6"/>
                </a:solidFill>
              </a:rPr>
              <a:t>
Büyük dil modellerinin çalışma mantığı, halüsinasyon (hata) kavramı ve öğrencilerin kendi ilgi alanlarına göre yapay zekayı bir 'Düşünme Ortağı' yapacağı ilk pratik istemler (prompting).</a:t>
            </a:r>
          </a:p>
          <a:p>
            <a:pPr>
              <a:spcBef>
                <a:spcPts val="1600"/>
              </a:spcBef>
              <a:defRPr sz="1600">
                <a:latin typeface="Arial"/>
              </a:defRPr>
            </a:pPr>
            <a:r>
              <a:rPr b="1">
                <a:solidFill>
                  <a:srgbClr val="FFFFFF"/>
                </a:solidFill>
              </a:rPr>
              <a:t>2. Hafta: Kod Okuryazarlığı ve Algoritmik Mantık</a:t>
            </a:r>
            <a:r>
              <a:rPr b="0">
                <a:solidFill>
                  <a:srgbClr val="E6E6E6"/>
                </a:solidFill>
              </a:rPr>
              <a:t>
Yazılım dillerinin temel anatomisi (Değişkenler, Döngüler, Koşullar). Yapay zekaya basit bir kod yazdırıp, kodun mantığını hiç yazılım bilmeyen bir öğrenciye satır satır Türkçe yorumlatma laboratuvarı.</a:t>
            </a:r>
          </a:p>
          <a:p>
            <a:pPr>
              <a:spcBef>
                <a:spcPts val="1600"/>
              </a:spcBef>
              <a:defRPr sz="1600">
                <a:latin typeface="Arial"/>
              </a:defRPr>
            </a:pPr>
            <a:r>
              <a:rPr b="1">
                <a:solidFill>
                  <a:srgbClr val="FFFFFF"/>
                </a:solidFill>
              </a:rPr>
              <a:t>3. Hafta: Claude 'Projects' ile Bilgi Tabanı Oluşturma</a:t>
            </a:r>
            <a:r>
              <a:rPr b="0">
                <a:solidFill>
                  <a:srgbClr val="E6E6E6"/>
                </a:solidFill>
              </a:rPr>
              <a:t>
Öğrencilerin kendi bölümlerine ait ders notlarını, PDF kaynaklarını veya makalelerini Claude Proje alanına yükleyerek tamamen kişiselleştirilmiş bir akademik asistan simülasyonu yapması.</a:t>
            </a:r>
          </a:p>
          <a:p>
            <a:pPr>
              <a:spcBef>
                <a:spcPts val="1600"/>
              </a:spcBef>
              <a:defRPr sz="1600">
                <a:latin typeface="Arial"/>
              </a:defRPr>
            </a:pPr>
            <a:r>
              <a:rPr b="1">
                <a:solidFill>
                  <a:srgbClr val="FFFFFF"/>
                </a:solidFill>
              </a:rPr>
              <a:t>4. Hafta: İlk Mikro-Uygulama ve Değerlendirme</a:t>
            </a:r>
            <a:r>
              <a:rPr b="0">
                <a:solidFill>
                  <a:srgbClr val="E6E6E6"/>
                </a:solidFill>
              </a:rPr>
              <a:t>
Öğrencilerin Claude yardımıyla kendi alanlarındaki temel bir problemi analiz edip, çözüm yollarını bir prompt ağacı halinde raporlaştırdığı ilk değerlendirme aşaması.</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212"/>
          </a:solidFill>
          <a:ln>
            <a:solidFill>
              <a:srgbClr val="1212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48640"/>
            <a:ext cx="10362895" cy="914400"/>
          </a:xfrm>
          <a:prstGeom prst="rect">
            <a:avLst/>
          </a:prstGeom>
          <a:noFill/>
        </p:spPr>
        <p:txBody>
          <a:bodyPr wrap="none">
            <a:spAutoFit/>
          </a:bodyPr>
          <a:lstStyle/>
          <a:p>
            <a:pPr>
              <a:defRPr sz="2800" b="1">
                <a:solidFill>
                  <a:srgbClr val="2563EB"/>
                </a:solidFill>
                <a:latin typeface="Arial"/>
              </a:defRPr>
            </a:pPr>
            <a:r>
              <a:t>2. Aşama: Microsoft Copilot ve Ofis Entegrasyonu (5 - 8. Haftalar)</a:t>
            </a:r>
          </a:p>
        </p:txBody>
      </p:sp>
      <p:sp>
        <p:nvSpPr>
          <p:cNvPr id="4" name="TextBox 3"/>
          <p:cNvSpPr txBox="1"/>
          <p:nvPr/>
        </p:nvSpPr>
        <p:spPr>
          <a:xfrm>
            <a:off x="914400" y="1645920"/>
            <a:ext cx="10362895" cy="4572000"/>
          </a:xfrm>
          <a:prstGeom prst="rect">
            <a:avLst/>
          </a:prstGeom>
          <a:noFill/>
        </p:spPr>
        <p:txBody>
          <a:bodyPr wrap="square">
            <a:spAutoFit/>
          </a:bodyPr>
          <a:lstStyle/>
          <a:p>
            <a:pPr>
              <a:spcBef>
                <a:spcPts val="1200"/>
              </a:spcBef>
              <a:defRPr sz="1600">
                <a:latin typeface="Arial"/>
              </a:defRPr>
            </a:pPr>
            <a:r>
              <a:rPr b="1">
                <a:solidFill>
                  <a:srgbClr val="FFFFFF"/>
                </a:solidFill>
              </a:rPr>
              <a:t>5. Hafta: Kurumsal Giriş ve Microsoft Copilot Ekosistemi</a:t>
            </a:r>
            <a:r>
              <a:rPr b="0">
                <a:solidFill>
                  <a:srgbClr val="E6E6E6"/>
                </a:solidFill>
              </a:rPr>
              <a:t>
Öğrencilerin @comu.edu.tr kurumsal e-postalarıyla sisteme güvenli giriş yapması. İş dünyasında ve akademide veri güvenliği kuralları ve Copilot'un temel kullanımı.</a:t>
            </a:r>
          </a:p>
          <a:p>
            <a:pPr>
              <a:spcBef>
                <a:spcPts val="1600"/>
              </a:spcBef>
              <a:defRPr sz="1600">
                <a:latin typeface="Arial"/>
              </a:defRPr>
            </a:pPr>
            <a:r>
              <a:rPr b="1">
                <a:solidFill>
                  <a:srgbClr val="FFFFFF"/>
                </a:solidFill>
              </a:rPr>
              <a:t>6. Hafta: Metin Analitiği ve Word Entegrasyonu</a:t>
            </a:r>
            <a:r>
              <a:rPr b="0">
                <a:solidFill>
                  <a:srgbClr val="E6E6E6"/>
                </a:solidFill>
              </a:rPr>
              <a:t>
Dağınık, çok uzun veya ham metin verilerinden Microsoft Copilot yardımıyla özet çıkarma, akademik rapor taslağı hazırlama ve Word üzerinde mikro düzenlemeler yapma.</a:t>
            </a:r>
          </a:p>
          <a:p>
            <a:pPr>
              <a:spcBef>
                <a:spcPts val="1600"/>
              </a:spcBef>
              <a:defRPr sz="1600">
                <a:latin typeface="Arial"/>
              </a:defRPr>
            </a:pPr>
            <a:r>
              <a:rPr b="1">
                <a:solidFill>
                  <a:srgbClr val="FFFFFF"/>
                </a:solidFill>
              </a:rPr>
              <a:t>7. Hafta: Veri Yönetimi ve Excel Formül Asistanlığı</a:t>
            </a:r>
            <a:r>
              <a:rPr b="0">
                <a:solidFill>
                  <a:srgbClr val="E6E6E6"/>
                </a:solidFill>
              </a:rPr>
              <a:t>
Hücre formüllerini, makroları ve karmaşık veri tablolarını Microsoft Copilot'a mikro komutlarla kontrol ettirme. Saniyeler içinde ham veriden anlamlı Excel fonksiyonları türetme.</a:t>
            </a:r>
          </a:p>
          <a:p>
            <a:pPr>
              <a:spcBef>
                <a:spcPts val="1600"/>
              </a:spcBef>
              <a:defRPr sz="1600">
                <a:latin typeface="Arial"/>
              </a:defRPr>
            </a:pPr>
            <a:r>
              <a:rPr b="1">
                <a:solidFill>
                  <a:srgbClr val="FFFFFF"/>
                </a:solidFill>
              </a:rPr>
              <a:t>8. Hafta: Sunum Tasarımı ve PowerPoint Optimizasyonu</a:t>
            </a:r>
            <a:r>
              <a:rPr b="0">
                <a:solidFill>
                  <a:srgbClr val="E6E6E6"/>
                </a:solidFill>
              </a:rPr>
              <a:t>
Bir fikri veya raporu mantıksal slayt hiyerarşisine dönüştürme. Yapay zekadan sunum taslağı, slayt içi metin yapıları ve görsel prompt fikirleri alma atölyesi.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212"/>
          </a:solidFill>
          <a:ln>
            <a:solidFill>
              <a:srgbClr val="1212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48640"/>
            <a:ext cx="10362895" cy="914400"/>
          </a:xfrm>
          <a:prstGeom prst="rect">
            <a:avLst/>
          </a:prstGeom>
          <a:noFill/>
        </p:spPr>
        <p:txBody>
          <a:bodyPr wrap="none">
            <a:spAutoFit/>
          </a:bodyPr>
          <a:lstStyle/>
          <a:p>
            <a:pPr>
              <a:defRPr sz="2800" b="1">
                <a:solidFill>
                  <a:srgbClr val="16A34A"/>
                </a:solidFill>
                <a:latin typeface="Arial"/>
              </a:defRPr>
            </a:pPr>
            <a:r>
              <a:t>3. Aşama: ChatGPT ve İleri Seviye Analitikler (9 - 12. Haftalar)</a:t>
            </a:r>
          </a:p>
        </p:txBody>
      </p:sp>
      <p:sp>
        <p:nvSpPr>
          <p:cNvPr id="4" name="TextBox 3"/>
          <p:cNvSpPr txBox="1"/>
          <p:nvPr/>
        </p:nvSpPr>
        <p:spPr>
          <a:xfrm>
            <a:off x="914400" y="1645920"/>
            <a:ext cx="10362895" cy="4572000"/>
          </a:xfrm>
          <a:prstGeom prst="rect">
            <a:avLst/>
          </a:prstGeom>
          <a:noFill/>
        </p:spPr>
        <p:txBody>
          <a:bodyPr wrap="square">
            <a:spAutoFit/>
          </a:bodyPr>
          <a:lstStyle/>
          <a:p>
            <a:pPr>
              <a:spcBef>
                <a:spcPts val="1200"/>
              </a:spcBef>
              <a:defRPr sz="1600">
                <a:latin typeface="Arial"/>
              </a:defRPr>
            </a:pPr>
            <a:r>
              <a:rPr b="1">
                <a:solidFill>
                  <a:srgbClr val="FFFFFF"/>
                </a:solidFill>
              </a:rPr>
              <a:t>9. Hafta: Canlı İnternet Taraması ve Literatür Doğrulama</a:t>
            </a:r>
            <a:r>
              <a:rPr b="0">
                <a:solidFill>
                  <a:srgbClr val="E6E6E6"/>
                </a:solidFill>
              </a:rPr>
              <a:t>
ChatGPT'nin arama motoru özelliklerini kullanarak güncel verilere ulaşma, akademik kaynakları çapraz kontrol etme ve bilgi doğrulama (fact-checking) yöntemleri.</a:t>
            </a:r>
          </a:p>
          <a:p>
            <a:pPr>
              <a:spcBef>
                <a:spcPts val="1600"/>
              </a:spcBef>
              <a:defRPr sz="1600">
                <a:latin typeface="Arial"/>
              </a:defRPr>
            </a:pPr>
            <a:r>
              <a:rPr b="1">
                <a:solidFill>
                  <a:srgbClr val="FFFFFF"/>
                </a:solidFill>
              </a:rPr>
              <a:t>10. Hafta: Advanced Data Analysis (Gelişmiş Veri Analizi)</a:t>
            </a:r>
            <a:r>
              <a:rPr b="0">
                <a:solidFill>
                  <a:srgbClr val="E6E6E6"/>
                </a:solidFill>
              </a:rPr>
              <a:t>
Sisteme yüklenen ham veri setlerinden (CSV, Excel) ChatGPT'nin arka planda otomatik Python kodları çalıştırarak grafikler, ısı haritaları ve istatistiksel özetler üretmesini sağlama.</a:t>
            </a:r>
          </a:p>
          <a:p>
            <a:pPr>
              <a:spcBef>
                <a:spcPts val="1600"/>
              </a:spcBef>
              <a:defRPr sz="1600">
                <a:latin typeface="Arial"/>
              </a:defRPr>
            </a:pPr>
            <a:r>
              <a:rPr b="1">
                <a:solidFill>
                  <a:srgbClr val="FFFFFF"/>
                </a:solidFill>
              </a:rPr>
              <a:t>11. Hafta: Kendi Özel Yapay Zeka Asistanını Tasarlama (Custom GPTs)</a:t>
            </a:r>
            <a:r>
              <a:rPr b="0">
                <a:solidFill>
                  <a:srgbClr val="E6E6E6"/>
                </a:solidFill>
              </a:rPr>
              <a:t>
Kod yazmadan, sadece doğal dil talimatları vererek öğrencinin kendi alanına özel (Örn: Hukuk Madde Danışmanı, İngilizce Konuşma Partneri) bir mikro yapay zeka aracı inşa etmesi.</a:t>
            </a:r>
          </a:p>
          <a:p>
            <a:pPr>
              <a:spcBef>
                <a:spcPts val="1600"/>
              </a:spcBef>
              <a:defRPr sz="1600">
                <a:latin typeface="Arial"/>
              </a:defRPr>
            </a:pPr>
            <a:r>
              <a:rPr b="1">
                <a:solidFill>
                  <a:srgbClr val="FFFFFF"/>
                </a:solidFill>
              </a:rPr>
              <a:t>12. Hafta: Çok Modlu (Multimodal) Kullanım ve Görsel Analiz</a:t>
            </a:r>
            <a:r>
              <a:rPr b="0">
                <a:solidFill>
                  <a:srgbClr val="E6E6E6"/>
                </a:solidFill>
              </a:rPr>
              <a:t>
Görselleri, grafikleri ve şemaları yapay zekaya analiz ettirme. Sesli asistan modülünü kullanarak yapay zeka ile interaktif fikir fırtınası (brainstorming) seansları yapma.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212"/>
          </a:solidFill>
          <a:ln>
            <a:solidFill>
              <a:srgbClr val="1212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48640"/>
            <a:ext cx="10362895" cy="914400"/>
          </a:xfrm>
          <a:prstGeom prst="rect">
            <a:avLst/>
          </a:prstGeom>
          <a:noFill/>
        </p:spPr>
        <p:txBody>
          <a:bodyPr wrap="none">
            <a:spAutoFit/>
          </a:bodyPr>
          <a:lstStyle/>
          <a:p>
            <a:pPr>
              <a:defRPr sz="2800" b="1">
                <a:solidFill>
                  <a:srgbClr val="FFFFFF"/>
                </a:solidFill>
                <a:latin typeface="Arial"/>
              </a:defRPr>
            </a:pPr>
            <a:r>
              <a:t>4. Aşama: Otonom Araçlar ve 'Go to Ant' Kapanışı (13 - 14. Haftalar)</a:t>
            </a:r>
          </a:p>
        </p:txBody>
      </p:sp>
      <p:sp>
        <p:nvSpPr>
          <p:cNvPr id="4" name="TextBox 3"/>
          <p:cNvSpPr txBox="1"/>
          <p:nvPr/>
        </p:nvSpPr>
        <p:spPr>
          <a:xfrm>
            <a:off x="914400" y="1645920"/>
            <a:ext cx="10362895" cy="4572000"/>
          </a:xfrm>
          <a:prstGeom prst="rect">
            <a:avLst/>
          </a:prstGeom>
          <a:noFill/>
        </p:spPr>
        <p:txBody>
          <a:bodyPr wrap="square">
            <a:spAutoFit/>
          </a:bodyPr>
          <a:lstStyle/>
          <a:p>
            <a:pPr>
              <a:spcBef>
                <a:spcPts val="1200"/>
              </a:spcBef>
              <a:defRPr sz="1600">
                <a:latin typeface="Arial"/>
              </a:defRPr>
            </a:pPr>
            <a:r>
              <a:rPr b="1">
                <a:solidFill>
                  <a:srgbClr val="FFFFFF"/>
                </a:solidFill>
              </a:rPr>
              <a:t>13. Hafta: Bilişim Modülü, Claude Code ve DeepSeek Entegrasyonu</a:t>
            </a:r>
            <a:r>
              <a:rPr b="0">
                <a:solidFill>
                  <a:srgbClr val="E6E6E6"/>
                </a:solidFill>
              </a:rPr>
              <a:t>
Mühendislik ve bilişim fakültesi öğrencileri için terminal tabanlı otonom kodlama araçları (Claude Code) ve derin düşünme (DeepSeek-R1) modellerinin yazılım geliştirme süreçlerindeki (Debug, Versiyon Kontrolü) rolü.</a:t>
            </a:r>
          </a:p>
          <a:p>
            <a:pPr>
              <a:spcBef>
                <a:spcPts val="1600"/>
              </a:spcBef>
              <a:defRPr sz="1600">
                <a:latin typeface="Arial"/>
              </a:defRPr>
            </a:pPr>
            <a:r>
              <a:rPr b="1">
                <a:solidFill>
                  <a:srgbClr val="FFFFFF"/>
                </a:solidFill>
              </a:rPr>
              <a:t>14. Hafta: 'Go to Ant' Koloni Gücü ve Mikro-Proje Sunumları</a:t>
            </a:r>
            <a:r>
              <a:rPr b="0">
                <a:solidFill>
                  <a:srgbClr val="E6E6E6"/>
                </a:solidFill>
              </a:rPr>
              <a:t>
Öğrencilerin 14 hafta boyunca öğrendiği mikro araçları (Claude, Microsoft, ChatGPT) bir araya getirerek kendi alanlarında geliştirdikleri yapay zeka destekli çözümleri ve prompt kütüphanelerini sunduğu büyük kapanış.</a:t>
            </a:r>
          </a:p>
          <a:p>
            <a:pPr>
              <a:spcBef>
                <a:spcPts val="3000"/>
              </a:spcBef>
              <a:defRPr sz="1600">
                <a:latin typeface="Arial"/>
              </a:defRPr>
            </a:pPr>
            <a:r>
              <a:rPr b="1">
                <a:solidFill>
                  <a:srgbClr val="D97706"/>
                </a:solidFill>
              </a:rPr>
              <a:t>'Go to Ant' Proje Felsefesi:</a:t>
            </a:r>
            <a:r>
              <a:rPr b="0">
                <a:solidFill>
                  <a:srgbClr val="E6E6E6"/>
                </a:solidFill>
              </a:rPr>
              <a:t>
Karınca kolonisi, tek başına küçük olan birimlerin bir araya gelerek büyük ve akıllı sistemler kurmasının en somut örneğidir. Öğrencilerimiz de bu derste öğrendikleri küçük, mikro yapay zeka becerilerini birleştirerek üniversitemiz genelinde devasa bir dijital dönüşüm ve kolektif akıl ekosistemi oluşturacaktır.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