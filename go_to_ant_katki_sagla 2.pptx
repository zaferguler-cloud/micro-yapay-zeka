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6E56"/>
        </a:solidFill>
      </p:bgPr>
    </p:bg>
    <p:spTree>
      <p:nvGrpSpPr>
        <p:cNvPr id="1" name=""/>
        <p:cNvGrpSpPr/>
        <p:nvPr/>
      </p:nvGrpSpPr>
      <p:grpSpPr>
        <a:xfrm>
          <a:off x="0" y="0"/>
          <a:ext cx="0" cy="0"/>
          <a:chOff x="0" y="0"/>
          <a:chExt cx="0" cy="0"/>
        </a:xfrm>
      </p:grpSpPr>
      <p:sp>
        <p:nvSpPr>
          <p:cNvPr id="2" name="Text 0"/>
          <p:cNvSpPr txBox="1"/>
          <p:nvPr/>
        </p:nvSpPr>
        <p:spPr>
          <a:xfrm>
            <a:off x="0" y="594360"/>
            <a:ext cx="12188952" cy="320040"/>
          </a:xfrm>
          <a:prstGeom prst="rect">
            <a:avLst/>
          </a:prstGeom>
          <a:noFill/>
          <a:ln/>
        </p:spPr>
        <p:txBody>
          <a:bodyPr wrap="square" lIns="0" tIns="0" rIns="0" bIns="0" rtlCol="0" anchor="ctr"/>
          <a:lstStyle/>
          <a:p>
            <a:pPr algn="ctr" indent="0" marL="0">
              <a:buNone/>
            </a:pPr>
            <a:r>
              <a:rPr lang="en-US" sz="1100" spc="200" kern="0" dirty="0">
                <a:solidFill>
                  <a:srgbClr val="6FC9AE"/>
                </a:solidFill>
                <a:latin typeface="Calibri" pitchFamily="34" charset="0"/>
                <a:ea typeface="Calibri" pitchFamily="34" charset="-122"/>
                <a:cs typeface="Calibri" pitchFamily="34" charset="-120"/>
              </a:rPr>
              <a:t>G O   T O   A N T   ·   F A Z   2</a:t>
            </a:r>
            <a:endParaRPr lang="en-US" sz="1100" dirty="0"/>
          </a:p>
        </p:txBody>
      </p:sp>
      <p:pic>
        <p:nvPicPr>
          <p:cNvPr id="3" name="Image 0" descr="ant_logo_white.png">    </p:cNvPr>
          <p:cNvPicPr>
            <a:picLocks noChangeAspect="1"/>
          </p:cNvPicPr>
          <p:nvPr/>
        </p:nvPicPr>
        <p:blipFill>
          <a:blip r:embed="rId1"/>
          <a:stretch>
            <a:fillRect/>
          </a:stretch>
        </p:blipFill>
        <p:spPr>
          <a:xfrm>
            <a:off x="5532120" y="1005840"/>
            <a:ext cx="1097280" cy="1097280"/>
          </a:xfrm>
          <a:prstGeom prst="rect">
            <a:avLst/>
          </a:prstGeom>
        </p:spPr>
      </p:pic>
      <p:sp>
        <p:nvSpPr>
          <p:cNvPr id="4" name="Text 1"/>
          <p:cNvSpPr txBox="1"/>
          <p:nvPr/>
        </p:nvSpPr>
        <p:spPr>
          <a:xfrm>
            <a:off x="0" y="2377440"/>
            <a:ext cx="12188952" cy="914400"/>
          </a:xfrm>
          <a:prstGeom prst="rect">
            <a:avLst/>
          </a:prstGeom>
          <a:noFill/>
          <a:ln/>
        </p:spPr>
        <p:txBody>
          <a:bodyPr wrap="square" lIns="0" tIns="0" rIns="0" bIns="0"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Go to Ant'e </a:t>
            </a:r>
            <a:pPr algn="ctr" indent="0" marL="0">
              <a:buNone/>
            </a:pPr>
            <a:r>
              <a:rPr lang="en-US" sz="4400" b="1" dirty="0">
                <a:solidFill>
                  <a:srgbClr val="02C39A"/>
                </a:solidFill>
                <a:latin typeface="Cambria" pitchFamily="34" charset="0"/>
                <a:ea typeface="Cambria" pitchFamily="34" charset="-122"/>
                <a:cs typeface="Cambria" pitchFamily="34" charset="-120"/>
              </a:rPr>
              <a:t>Katkı Sağla</a:t>
            </a:r>
            <a:endParaRPr lang="en-US" sz="4400" dirty="0"/>
          </a:p>
        </p:txBody>
      </p:sp>
      <p:sp>
        <p:nvSpPr>
          <p:cNvPr id="5" name="Text 2"/>
          <p:cNvSpPr txBox="1"/>
          <p:nvPr/>
        </p:nvSpPr>
        <p:spPr>
          <a:xfrm>
            <a:off x="0" y="3310128"/>
            <a:ext cx="12188952" cy="457200"/>
          </a:xfrm>
          <a:prstGeom prst="rect">
            <a:avLst/>
          </a:prstGeom>
          <a:noFill/>
          <a:ln/>
        </p:spPr>
        <p:txBody>
          <a:bodyPr wrap="square" lIns="0" tIns="0" rIns="0" bIns="0" rtlCol="0" anchor="ctr"/>
          <a:lstStyle/>
          <a:p>
            <a:pPr algn="ctr" indent="0" marL="0">
              <a:buNone/>
            </a:pPr>
            <a:r>
              <a:rPr lang="en-US" sz="1600" i="1" dirty="0">
                <a:solidFill>
                  <a:srgbClr val="E1F5EE"/>
                </a:solidFill>
                <a:latin typeface="Calibri" pitchFamily="34" charset="0"/>
                <a:ea typeface="Calibri" pitchFamily="34" charset="-122"/>
                <a:cs typeface="Calibri" pitchFamily="34" charset="-120"/>
              </a:rPr>
              <a:t>Yeşil enerji · yüksek teknoloji · çevre bilinci — Çanakkale için bir işbirliği çağrısı</a:t>
            </a:r>
            <a:endParaRPr lang="en-US" sz="1600" dirty="0"/>
          </a:p>
        </p:txBody>
      </p:sp>
      <p:sp>
        <p:nvSpPr>
          <p:cNvPr id="6" name="Text 3"/>
          <p:cNvSpPr txBox="1"/>
          <p:nvPr/>
        </p:nvSpPr>
        <p:spPr>
          <a:xfrm>
            <a:off x="0" y="5989320"/>
            <a:ext cx="12188952" cy="365760"/>
          </a:xfrm>
          <a:prstGeom prst="rect">
            <a:avLst/>
          </a:prstGeom>
          <a:noFill/>
          <a:ln/>
        </p:spPr>
        <p:txBody>
          <a:bodyPr wrap="square" lIns="0" tIns="0" rIns="0" bIns="0" rtlCol="0" anchor="ctr"/>
          <a:lstStyle/>
          <a:p>
            <a:pPr algn="ctr" indent="0" marL="0">
              <a:buNone/>
            </a:pPr>
            <a:r>
              <a:rPr lang="en-US" sz="1250" dirty="0">
                <a:solidFill>
                  <a:srgbClr val="AFE3D4"/>
                </a:solidFill>
                <a:latin typeface="Calibri" pitchFamily="34" charset="0"/>
                <a:ea typeface="Calibri" pitchFamily="34" charset="-122"/>
                <a:cs typeface="Calibri" pitchFamily="34" charset="-120"/>
              </a:rPr>
              <a:t>ÇÖMÜ "Mikro Yapay Zekanın Kullanımı" Projesi — İkinci Faz Önerisi</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0F6E56"/>
                </a:solidFill>
                <a:latin typeface="Calibri" pitchFamily="34" charset="0"/>
                <a:ea typeface="Calibri" pitchFamily="34" charset="-122"/>
                <a:cs typeface="Calibri" pitchFamily="34" charset="-120"/>
              </a:rPr>
              <a:t>B A Ğ L A M</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1A2E28"/>
                </a:solidFill>
                <a:latin typeface="Cambria" pitchFamily="34" charset="0"/>
                <a:ea typeface="Cambria" pitchFamily="34" charset="-122"/>
                <a:cs typeface="Cambria" pitchFamily="34" charset="-120"/>
              </a:rPr>
              <a:t>Faz 2 nedir?</a:t>
            </a:r>
            <a:endParaRPr lang="en-US" sz="3000" dirty="0"/>
          </a:p>
        </p:txBody>
      </p:sp>
      <p:sp>
        <p:nvSpPr>
          <p:cNvPr id="4" name="Shape 2"/>
          <p:cNvSpPr/>
          <p:nvPr/>
        </p:nvSpPr>
        <p:spPr>
          <a:xfrm>
            <a:off x="548640" y="1280160"/>
            <a:ext cx="11064240" cy="18288"/>
          </a:xfrm>
          <a:prstGeom prst="rect">
            <a:avLst/>
          </a:prstGeom>
          <a:solidFill>
            <a:srgbClr val="E1F5EE"/>
          </a:solidFill>
          <a:ln/>
        </p:spPr>
      </p:sp>
      <p:sp>
        <p:nvSpPr>
          <p:cNvPr id="5" name="Text 3"/>
          <p:cNvSpPr txBox="1"/>
          <p:nvPr/>
        </p:nvSpPr>
        <p:spPr>
          <a:xfrm>
            <a:off x="548640" y="1554480"/>
            <a:ext cx="11064240" cy="1188720"/>
          </a:xfrm>
          <a:prstGeom prst="rect">
            <a:avLst/>
          </a:prstGeom>
          <a:noFill/>
          <a:ln/>
        </p:spPr>
        <p:txBody>
          <a:bodyPr wrap="square" lIns="0" tIns="0" rIns="0" bIns="0" rtlCol="0" anchor="ctr"/>
          <a:lstStyle/>
          <a:p>
            <a:pPr indent="0" marL="0">
              <a:lnSpc>
                <a:spcPct val="135000"/>
              </a:lnSpc>
              <a:buNone/>
            </a:pPr>
            <a:r>
              <a:rPr lang="en-US" sz="1600" dirty="0">
                <a:solidFill>
                  <a:srgbClr val="1A2E28"/>
                </a:solidFill>
                <a:latin typeface="Calibri" pitchFamily="34" charset="0"/>
                <a:ea typeface="Calibri" pitchFamily="34" charset="-122"/>
                <a:cs typeface="Calibri" pitchFamily="34" charset="-120"/>
              </a:rPr>
              <a:t>Faz 1'de Go to Ant, ÇÖMÜ bünyesinde Bilişim Fakültesi pilotuyla başlayıp tüm üniversiteye yayılan bir yapay zeka okuryazarlığı hareketiydi. Faz 2'de bu hareketi kampüs duvarlarının dışına, Çanakkale'nin üretim ve yönetim gücüne taşıyoruz.</a:t>
            </a:r>
            <a:endParaRPr lang="en-US" sz="1600" dirty="0"/>
          </a:p>
        </p:txBody>
      </p:sp>
      <p:sp>
        <p:nvSpPr>
          <p:cNvPr id="6" name="Shape 4"/>
          <p:cNvSpPr/>
          <p:nvPr/>
        </p:nvSpPr>
        <p:spPr>
          <a:xfrm>
            <a:off x="548640" y="3017520"/>
            <a:ext cx="5349240" cy="2286000"/>
          </a:xfrm>
          <a:prstGeom prst="roundRect">
            <a:avLst>
              <a:gd name="adj" fmla="val 4800"/>
            </a:avLst>
          </a:prstGeom>
          <a:solidFill>
            <a:srgbClr val="E1F5EE"/>
          </a:solidFill>
          <a:ln/>
        </p:spPr>
      </p:sp>
      <p:sp>
        <p:nvSpPr>
          <p:cNvPr id="7" name="Text 5"/>
          <p:cNvSpPr txBox="1"/>
          <p:nvPr/>
        </p:nvSpPr>
        <p:spPr>
          <a:xfrm>
            <a:off x="822960" y="3291840"/>
            <a:ext cx="4800600" cy="548640"/>
          </a:xfrm>
          <a:prstGeom prst="rect">
            <a:avLst/>
          </a:prstGeom>
          <a:noFill/>
          <a:ln/>
        </p:spPr>
        <p:txBody>
          <a:bodyPr wrap="square" lIns="0" tIns="0" rIns="0" bIns="0" rtlCol="0" anchor="ctr"/>
          <a:lstStyle/>
          <a:p>
            <a:pPr indent="0" marL="0">
              <a:buNone/>
            </a:pPr>
            <a:r>
              <a:rPr lang="en-US" sz="2200" b="1" dirty="0">
                <a:solidFill>
                  <a:srgbClr val="0F6E56"/>
                </a:solidFill>
                <a:latin typeface="Cambria" pitchFamily="34" charset="0"/>
                <a:ea typeface="Cambria" pitchFamily="34" charset="-122"/>
                <a:cs typeface="Cambria" pitchFamily="34" charset="-120"/>
              </a:rPr>
              <a:t>Faz 1</a:t>
            </a:r>
            <a:endParaRPr lang="en-US" sz="2200" dirty="0"/>
          </a:p>
        </p:txBody>
      </p:sp>
      <p:sp>
        <p:nvSpPr>
          <p:cNvPr id="8" name="Text 6"/>
          <p:cNvSpPr txBox="1"/>
          <p:nvPr/>
        </p:nvSpPr>
        <p:spPr>
          <a:xfrm>
            <a:off x="822960" y="3931920"/>
            <a:ext cx="4800600" cy="1097280"/>
          </a:xfrm>
          <a:prstGeom prst="rect">
            <a:avLst/>
          </a:prstGeom>
          <a:noFill/>
          <a:ln/>
        </p:spPr>
        <p:txBody>
          <a:bodyPr wrap="square" lIns="0" tIns="0" rIns="0" bIns="0" rtlCol="0" anchor="ctr"/>
          <a:lstStyle/>
          <a:p>
            <a:pPr indent="0" marL="0">
              <a:lnSpc>
                <a:spcPct val="130000"/>
              </a:lnSpc>
              <a:buNone/>
            </a:pPr>
            <a:r>
              <a:rPr lang="en-US" sz="1450" dirty="0">
                <a:solidFill>
                  <a:srgbClr val="1A2E28"/>
                </a:solidFill>
                <a:latin typeface="Calibri" pitchFamily="34" charset="0"/>
                <a:ea typeface="Calibri" pitchFamily="34" charset="-122"/>
                <a:cs typeface="Calibri" pitchFamily="34" charset="-120"/>
              </a:rPr>
              <a:t>Üniversite içi — öğrenciler ve öğretim elemanları</a:t>
            </a:r>
            <a:endParaRPr lang="en-US" sz="1450" dirty="0"/>
          </a:p>
        </p:txBody>
      </p:sp>
      <p:sp>
        <p:nvSpPr>
          <p:cNvPr id="9" name="Shape 7"/>
          <p:cNvSpPr/>
          <p:nvPr/>
        </p:nvSpPr>
        <p:spPr>
          <a:xfrm>
            <a:off x="6263640" y="3017520"/>
            <a:ext cx="5349240" cy="2286000"/>
          </a:xfrm>
          <a:prstGeom prst="roundRect">
            <a:avLst>
              <a:gd name="adj" fmla="val 4800"/>
            </a:avLst>
          </a:prstGeom>
          <a:solidFill>
            <a:srgbClr val="0F6E56"/>
          </a:solidFill>
          <a:ln/>
        </p:spPr>
      </p:sp>
      <p:sp>
        <p:nvSpPr>
          <p:cNvPr id="10" name="Text 8"/>
          <p:cNvSpPr txBox="1"/>
          <p:nvPr/>
        </p:nvSpPr>
        <p:spPr>
          <a:xfrm>
            <a:off x="6537960" y="3291840"/>
            <a:ext cx="4800600" cy="54864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Faz 2</a:t>
            </a:r>
            <a:endParaRPr lang="en-US" sz="2200" dirty="0"/>
          </a:p>
        </p:txBody>
      </p:sp>
      <p:sp>
        <p:nvSpPr>
          <p:cNvPr id="11" name="Text 9"/>
          <p:cNvSpPr txBox="1"/>
          <p:nvPr/>
        </p:nvSpPr>
        <p:spPr>
          <a:xfrm>
            <a:off x="6537960" y="3931920"/>
            <a:ext cx="4800600" cy="1097280"/>
          </a:xfrm>
          <a:prstGeom prst="rect">
            <a:avLst/>
          </a:prstGeom>
          <a:noFill/>
          <a:ln/>
        </p:spPr>
        <p:txBody>
          <a:bodyPr wrap="square" lIns="0" tIns="0" rIns="0" bIns="0" rtlCol="0" anchor="ctr"/>
          <a:lstStyle/>
          <a:p>
            <a:pPr indent="0" marL="0">
              <a:lnSpc>
                <a:spcPct val="130000"/>
              </a:lnSpc>
              <a:buNone/>
            </a:pPr>
            <a:r>
              <a:rPr lang="en-US" sz="1450" dirty="0">
                <a:solidFill>
                  <a:srgbClr val="FFFFFF"/>
                </a:solidFill>
                <a:latin typeface="Calibri" pitchFamily="34" charset="0"/>
                <a:ea typeface="Calibri" pitchFamily="34" charset="-122"/>
                <a:cs typeface="Calibri" pitchFamily="34" charset="-120"/>
              </a:rPr>
              <a:t>Şehir ağı — şirketler, fabrikalar ve yerel yönetimler</a:t>
            </a:r>
            <a:endParaRPr lang="en-US" sz="1450" dirty="0"/>
          </a:p>
        </p:txBody>
      </p:sp>
      <p:sp>
        <p:nvSpPr>
          <p:cNvPr id="12" name="Text 10"/>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F6E68"/>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0F6E56"/>
                </a:solidFill>
                <a:latin typeface="Calibri" pitchFamily="34" charset="0"/>
                <a:ea typeface="Calibri" pitchFamily="34" charset="-122"/>
                <a:cs typeface="Calibri" pitchFamily="34" charset="-120"/>
              </a:rPr>
              <a:t>N E D E N   Ç A N A K K A L E</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1A2E28"/>
                </a:solidFill>
                <a:latin typeface="Cambria" pitchFamily="34" charset="0"/>
                <a:ea typeface="Cambria" pitchFamily="34" charset="-122"/>
                <a:cs typeface="Cambria" pitchFamily="34" charset="-120"/>
              </a:rPr>
              <a:t>Neden Çanakkale?</a:t>
            </a:r>
            <a:endParaRPr lang="en-US" sz="3000" dirty="0"/>
          </a:p>
        </p:txBody>
      </p:sp>
      <p:sp>
        <p:nvSpPr>
          <p:cNvPr id="4" name="Shape 2"/>
          <p:cNvSpPr/>
          <p:nvPr/>
        </p:nvSpPr>
        <p:spPr>
          <a:xfrm>
            <a:off x="548640" y="1280160"/>
            <a:ext cx="11064240" cy="18288"/>
          </a:xfrm>
          <a:prstGeom prst="rect">
            <a:avLst/>
          </a:prstGeom>
          <a:solidFill>
            <a:srgbClr val="E1F5EE"/>
          </a:solidFill>
          <a:ln/>
        </p:spPr>
      </p:sp>
      <p:sp>
        <p:nvSpPr>
          <p:cNvPr id="5" name="Shape 3"/>
          <p:cNvSpPr/>
          <p:nvPr/>
        </p:nvSpPr>
        <p:spPr>
          <a:xfrm>
            <a:off x="548640" y="1691640"/>
            <a:ext cx="3520440" cy="2560320"/>
          </a:xfrm>
          <a:prstGeom prst="roundRect">
            <a:avLst>
              <a:gd name="adj" fmla="val 4286"/>
            </a:avLst>
          </a:prstGeom>
          <a:solidFill>
            <a:srgbClr val="0F6E56"/>
          </a:solidFill>
          <a:ln/>
        </p:spPr>
      </p:sp>
      <p:sp>
        <p:nvSpPr>
          <p:cNvPr id="6" name="Text 4"/>
          <p:cNvSpPr txBox="1"/>
          <p:nvPr/>
        </p:nvSpPr>
        <p:spPr>
          <a:xfrm>
            <a:off x="777240" y="1947672"/>
            <a:ext cx="3063240" cy="82296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Rüzgar enerjisi üssü</a:t>
            </a:r>
            <a:endParaRPr lang="en-US" sz="1800" dirty="0"/>
          </a:p>
        </p:txBody>
      </p:sp>
      <p:sp>
        <p:nvSpPr>
          <p:cNvPr id="7" name="Text 5"/>
          <p:cNvSpPr txBox="1"/>
          <p:nvPr/>
        </p:nvSpPr>
        <p:spPr>
          <a:xfrm>
            <a:off x="777240" y="2834640"/>
            <a:ext cx="3063240" cy="128016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Türkiye'nin önemli rüzgar enerji santrali ve türbin imalatı bölgelerinden biri</a:t>
            </a:r>
            <a:endParaRPr lang="en-US" sz="1300" dirty="0"/>
          </a:p>
        </p:txBody>
      </p:sp>
      <p:sp>
        <p:nvSpPr>
          <p:cNvPr id="8" name="Shape 6"/>
          <p:cNvSpPr/>
          <p:nvPr/>
        </p:nvSpPr>
        <p:spPr>
          <a:xfrm>
            <a:off x="4343400" y="1691640"/>
            <a:ext cx="3520440" cy="2560320"/>
          </a:xfrm>
          <a:prstGeom prst="roundRect">
            <a:avLst>
              <a:gd name="adj" fmla="val 4286"/>
            </a:avLst>
          </a:prstGeom>
          <a:solidFill>
            <a:srgbClr val="02C39A"/>
          </a:solidFill>
          <a:ln/>
        </p:spPr>
      </p:sp>
      <p:sp>
        <p:nvSpPr>
          <p:cNvPr id="9" name="Text 7"/>
          <p:cNvSpPr txBox="1"/>
          <p:nvPr/>
        </p:nvSpPr>
        <p:spPr>
          <a:xfrm>
            <a:off x="4572000" y="1947672"/>
            <a:ext cx="3063240" cy="82296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Turizm şehri</a:t>
            </a:r>
            <a:endParaRPr lang="en-US" sz="1800" dirty="0"/>
          </a:p>
        </p:txBody>
      </p:sp>
      <p:sp>
        <p:nvSpPr>
          <p:cNvPr id="10" name="Text 8"/>
          <p:cNvSpPr txBox="1"/>
          <p:nvPr/>
        </p:nvSpPr>
        <p:spPr>
          <a:xfrm>
            <a:off x="4572000" y="2834640"/>
            <a:ext cx="3063240" cy="128016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Doğal ve tarihi dokusunu koruyarak büyümesi gereken bir destinasyon</a:t>
            </a:r>
            <a:endParaRPr lang="en-US" sz="1300" dirty="0"/>
          </a:p>
        </p:txBody>
      </p:sp>
      <p:sp>
        <p:nvSpPr>
          <p:cNvPr id="11" name="Shape 9"/>
          <p:cNvSpPr/>
          <p:nvPr/>
        </p:nvSpPr>
        <p:spPr>
          <a:xfrm>
            <a:off x="8138160" y="1691640"/>
            <a:ext cx="3520440" cy="2560320"/>
          </a:xfrm>
          <a:prstGeom prst="roundRect">
            <a:avLst>
              <a:gd name="adj" fmla="val 4286"/>
            </a:avLst>
          </a:prstGeom>
          <a:solidFill>
            <a:srgbClr val="0C5A47"/>
          </a:solidFill>
          <a:ln/>
        </p:spPr>
      </p:sp>
      <p:sp>
        <p:nvSpPr>
          <p:cNvPr id="12" name="Text 10"/>
          <p:cNvSpPr txBox="1"/>
          <p:nvPr/>
        </p:nvSpPr>
        <p:spPr>
          <a:xfrm>
            <a:off x="8366760" y="1947672"/>
            <a:ext cx="3063240" cy="822960"/>
          </a:xfrm>
          <a:prstGeom prst="rect">
            <a:avLst/>
          </a:prstGeom>
          <a:noFill/>
          <a:ln/>
        </p:spPr>
        <p:txBody>
          <a:bodyPr wrap="square" lIns="0" tIns="0" rIns="0" bIns="0" rtlCol="0" anchor="ctr"/>
          <a:lstStyle/>
          <a:p>
            <a:pPr indent="0" marL="0">
              <a:lnSpc>
                <a:spcPct val="110000"/>
              </a:lnSpc>
              <a:buNone/>
            </a:pPr>
            <a:r>
              <a:rPr lang="en-US" sz="1800" b="1" dirty="0">
                <a:solidFill>
                  <a:srgbClr val="FFFFFF"/>
                </a:solidFill>
                <a:latin typeface="Cambria" pitchFamily="34" charset="0"/>
                <a:ea typeface="Cambria" pitchFamily="34" charset="-122"/>
                <a:cs typeface="Cambria" pitchFamily="34" charset="-120"/>
              </a:rPr>
              <a:t>Üretim gücü</a:t>
            </a:r>
            <a:endParaRPr lang="en-US" sz="1800" dirty="0"/>
          </a:p>
        </p:txBody>
      </p:sp>
      <p:sp>
        <p:nvSpPr>
          <p:cNvPr id="13" name="Text 11"/>
          <p:cNvSpPr txBox="1"/>
          <p:nvPr/>
        </p:nvSpPr>
        <p:spPr>
          <a:xfrm>
            <a:off x="8366760" y="2834640"/>
            <a:ext cx="3063240" cy="1280160"/>
          </a:xfrm>
          <a:prstGeom prst="rect">
            <a:avLst/>
          </a:prstGeom>
          <a:noFill/>
          <a:ln/>
        </p:spPr>
        <p:txBody>
          <a:bodyPr wrap="square" lIns="0" tIns="0" rIns="0" bIns="0" rtlCol="0" anchor="ctr"/>
          <a:lstStyle/>
          <a:p>
            <a:pPr indent="0" marL="0">
              <a:lnSpc>
                <a:spcPct val="130000"/>
              </a:lnSpc>
              <a:buNone/>
            </a:pPr>
            <a:r>
              <a:rPr lang="en-US" sz="1300" dirty="0">
                <a:solidFill>
                  <a:srgbClr val="FFFFFF"/>
                </a:solidFill>
                <a:latin typeface="Calibri" pitchFamily="34" charset="0"/>
                <a:ea typeface="Calibri" pitchFamily="34" charset="-122"/>
                <a:cs typeface="Calibri" pitchFamily="34" charset="-120"/>
              </a:rPr>
              <a:t>Sanayi ve fabrikalarıyla bölgesel ekonominin lokomotifi</a:t>
            </a:r>
            <a:endParaRPr lang="en-US" sz="1300" dirty="0"/>
          </a:p>
        </p:txBody>
      </p:sp>
      <p:sp>
        <p:nvSpPr>
          <p:cNvPr id="14" name="Shape 12"/>
          <p:cNvSpPr/>
          <p:nvPr/>
        </p:nvSpPr>
        <p:spPr>
          <a:xfrm>
            <a:off x="548640" y="4526280"/>
            <a:ext cx="11064240" cy="1417320"/>
          </a:xfrm>
          <a:prstGeom prst="roundRect">
            <a:avLst>
              <a:gd name="adj" fmla="val 7742"/>
            </a:avLst>
          </a:prstGeom>
          <a:solidFill>
            <a:srgbClr val="E1F5EE"/>
          </a:solidFill>
          <a:ln/>
        </p:spPr>
      </p:sp>
      <p:sp>
        <p:nvSpPr>
          <p:cNvPr id="15" name="Text 13"/>
          <p:cNvSpPr txBox="1"/>
          <p:nvPr/>
        </p:nvSpPr>
        <p:spPr>
          <a:xfrm>
            <a:off x="822960" y="4754880"/>
            <a:ext cx="10515600" cy="1005840"/>
          </a:xfrm>
          <a:prstGeom prst="rect">
            <a:avLst/>
          </a:prstGeom>
          <a:noFill/>
          <a:ln/>
        </p:spPr>
        <p:txBody>
          <a:bodyPr wrap="square" lIns="0" tIns="0" rIns="0" bIns="0" rtlCol="0" anchor="ctr"/>
          <a:lstStyle/>
          <a:p>
            <a:pPr indent="0" marL="0">
              <a:lnSpc>
                <a:spcPct val="135000"/>
              </a:lnSpc>
              <a:buNone/>
            </a:pPr>
            <a:r>
              <a:rPr lang="en-US" sz="1500" i="1" dirty="0">
                <a:solidFill>
                  <a:srgbClr val="0F6E56"/>
                </a:solidFill>
                <a:latin typeface="Calibri" pitchFamily="34" charset="0"/>
                <a:ea typeface="Calibri" pitchFamily="34" charset="-122"/>
                <a:cs typeface="Calibri" pitchFamily="34" charset="-120"/>
              </a:rPr>
              <a:t>Bu üç güç bir arada düşünüldüğünde Çanakkale, yeşil enerjiyi etkin kullanan, çevresini koruyan ve yüksek teknolojiyi benimseyen bir şehir modeli için ideal bir zemin sunuyor.</a:t>
            </a:r>
            <a:endParaRPr lang="en-US" sz="1500" dirty="0"/>
          </a:p>
        </p:txBody>
      </p:sp>
      <p:sp>
        <p:nvSpPr>
          <p:cNvPr id="16" name="Text 14"/>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F6E68"/>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6E56"/>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6FC9AE"/>
                </a:solidFill>
                <a:latin typeface="Calibri" pitchFamily="34" charset="0"/>
                <a:ea typeface="Calibri" pitchFamily="34" charset="-122"/>
                <a:cs typeface="Calibri" pitchFamily="34" charset="-120"/>
              </a:rPr>
              <a:t>T A R İ H   V E   K İ M L İ K</a:t>
            </a:r>
            <a:endParaRPr lang="en-US" sz="1100" dirty="0"/>
          </a:p>
        </p:txBody>
      </p:sp>
      <p:sp>
        <p:nvSpPr>
          <p:cNvPr id="3" name="Shape 1"/>
          <p:cNvSpPr/>
          <p:nvPr/>
        </p:nvSpPr>
        <p:spPr>
          <a:xfrm>
            <a:off x="548640" y="868680"/>
            <a:ext cx="54864" cy="1234440"/>
          </a:xfrm>
          <a:prstGeom prst="rect">
            <a:avLst/>
          </a:prstGeom>
          <a:solidFill>
            <a:srgbClr val="02C39A"/>
          </a:solidFill>
          <a:ln/>
        </p:spPr>
      </p:sp>
      <p:sp>
        <p:nvSpPr>
          <p:cNvPr id="4" name="Text 2"/>
          <p:cNvSpPr txBox="1"/>
          <p:nvPr/>
        </p:nvSpPr>
        <p:spPr>
          <a:xfrm>
            <a:off x="914400" y="822960"/>
            <a:ext cx="10332720" cy="1188720"/>
          </a:xfrm>
          <a:prstGeom prst="rect">
            <a:avLst/>
          </a:prstGeom>
          <a:noFill/>
          <a:ln/>
        </p:spPr>
        <p:txBody>
          <a:bodyPr wrap="square" lIns="0" tIns="0" rIns="0" bIns="0" rtlCol="0" anchor="ctr"/>
          <a:lstStyle/>
          <a:p>
            <a:pPr indent="0" marL="0">
              <a:lnSpc>
                <a:spcPct val="115000"/>
              </a:lnSpc>
              <a:buNone/>
            </a:pPr>
            <a:r>
              <a:rPr lang="en-US" sz="3000" b="1" dirty="0">
                <a:solidFill>
                  <a:srgbClr val="FFFFFF"/>
                </a:solidFill>
                <a:latin typeface="Cambria" pitchFamily="34" charset="0"/>
                <a:ea typeface="Cambria" pitchFamily="34" charset="-122"/>
                <a:cs typeface="Cambria" pitchFamily="34" charset="-120"/>
              </a:rPr>
              <a:t>Şehitler diyarı, </a:t>
            </a:r>
            <a:pPr indent="0" marL="0">
              <a:lnSpc>
                <a:spcPct val="115000"/>
              </a:lnSpc>
              <a:buNone/>
            </a:pPr>
            <a:r>
              <a:rPr lang="en-US" sz="3000" b="1" dirty="0">
                <a:solidFill>
                  <a:srgbClr val="02C39A"/>
                </a:solidFill>
                <a:latin typeface="Cambria" pitchFamily="34" charset="0"/>
                <a:ea typeface="Cambria" pitchFamily="34" charset="-122"/>
                <a:cs typeface="Cambria" pitchFamily="34" charset="-120"/>
              </a:rPr>
              <a:t>farkındalığın şehri</a:t>
            </a:r>
            <a:pPr indent="0" marL="0">
              <a:lnSpc>
                <a:spcPct val="115000"/>
              </a:lnSpc>
              <a:buNone/>
            </a:pPr>
            <a:r>
              <a:rPr lang="en-US" sz="3000" b="1" dirty="0">
                <a:solidFill>
                  <a:srgbClr val="FFFFFF"/>
                </a:solidFill>
                <a:latin typeface="Cambria" pitchFamily="34" charset="0"/>
                <a:ea typeface="Cambria" pitchFamily="34" charset="-122"/>
                <a:cs typeface="Cambria" pitchFamily="34" charset="-120"/>
              </a:rPr>
              <a:t>.</a:t>
            </a:r>
            <a:endParaRPr lang="en-US" sz="3000" dirty="0"/>
          </a:p>
        </p:txBody>
      </p:sp>
      <p:sp>
        <p:nvSpPr>
          <p:cNvPr id="5" name="Text 3"/>
          <p:cNvSpPr txBox="1"/>
          <p:nvPr/>
        </p:nvSpPr>
        <p:spPr>
          <a:xfrm>
            <a:off x="914400" y="1965960"/>
            <a:ext cx="9692640" cy="822960"/>
          </a:xfrm>
          <a:prstGeom prst="rect">
            <a:avLst/>
          </a:prstGeom>
          <a:noFill/>
          <a:ln/>
        </p:spPr>
        <p:txBody>
          <a:bodyPr wrap="square" lIns="0" tIns="0" rIns="0" bIns="0" rtlCol="0" anchor="ctr"/>
          <a:lstStyle/>
          <a:p>
            <a:pPr indent="0" marL="0">
              <a:lnSpc>
                <a:spcPct val="130000"/>
              </a:lnSpc>
              <a:buNone/>
            </a:pPr>
            <a:r>
              <a:rPr lang="en-US" sz="1500" i="1" dirty="0">
                <a:solidFill>
                  <a:srgbClr val="E1F5EE"/>
                </a:solidFill>
                <a:latin typeface="Calibri" pitchFamily="34" charset="0"/>
                <a:ea typeface="Calibri" pitchFamily="34" charset="-122"/>
                <a:cs typeface="Calibri" pitchFamily="34" charset="-120"/>
              </a:rPr>
              <a:t>Çanakkale, tarihiyle yüzleşmeyi bilen, bu yüzden de çevre bilincinin en kolay yerleşeceği şehirlerden biri — eğitim düzeyi yüksek, geçmişine sahip çıkan bir toplum.</a:t>
            </a:r>
            <a:endParaRPr lang="en-US" sz="1500" dirty="0"/>
          </a:p>
        </p:txBody>
      </p:sp>
      <p:sp>
        <p:nvSpPr>
          <p:cNvPr id="6" name="Shape 4"/>
          <p:cNvSpPr/>
          <p:nvPr/>
        </p:nvSpPr>
        <p:spPr>
          <a:xfrm>
            <a:off x="914400" y="3063240"/>
            <a:ext cx="10332720" cy="2834640"/>
          </a:xfrm>
          <a:prstGeom prst="roundRect">
            <a:avLst>
              <a:gd name="adj" fmla="val 3871"/>
            </a:avLst>
          </a:prstGeom>
          <a:solidFill>
            <a:srgbClr val="0C5A47"/>
          </a:solidFill>
          <a:ln/>
        </p:spPr>
      </p:sp>
      <p:sp>
        <p:nvSpPr>
          <p:cNvPr id="7" name="Text 5"/>
          <p:cNvSpPr txBox="1"/>
          <p:nvPr/>
        </p:nvSpPr>
        <p:spPr>
          <a:xfrm>
            <a:off x="1188720" y="3291840"/>
            <a:ext cx="9692640" cy="365760"/>
          </a:xfrm>
          <a:prstGeom prst="rect">
            <a:avLst/>
          </a:prstGeom>
          <a:noFill/>
          <a:ln/>
        </p:spPr>
        <p:txBody>
          <a:bodyPr wrap="square" lIns="0" tIns="0" rIns="0" bIns="0" rtlCol="0" anchor="ctr"/>
          <a:lstStyle/>
          <a:p>
            <a:pPr indent="0" marL="0">
              <a:buNone/>
            </a:pPr>
            <a:r>
              <a:rPr lang="en-US" sz="1600" b="1" dirty="0">
                <a:solidFill>
                  <a:srgbClr val="02C39A"/>
                </a:solidFill>
                <a:latin typeface="Cambria" pitchFamily="34" charset="0"/>
                <a:ea typeface="Cambria" pitchFamily="34" charset="-122"/>
                <a:cs typeface="Cambria" pitchFamily="34" charset="-120"/>
              </a:rPr>
              <a:t>Çanakkale Alan Başkanlığı katkısı</a:t>
            </a:r>
            <a:endParaRPr lang="en-US" sz="1600" dirty="0"/>
          </a:p>
        </p:txBody>
      </p:sp>
      <p:sp>
        <p:nvSpPr>
          <p:cNvPr id="8" name="Text 6"/>
          <p:cNvSpPr txBox="1"/>
          <p:nvPr/>
        </p:nvSpPr>
        <p:spPr>
          <a:xfrm>
            <a:off x="1188720" y="3749040"/>
            <a:ext cx="9692640" cy="2011680"/>
          </a:xfrm>
          <a:prstGeom prst="rect">
            <a:avLst/>
          </a:prstGeom>
          <a:noFill/>
          <a:ln/>
        </p:spPr>
        <p:txBody>
          <a:bodyPr wrap="square" lIns="0" tIns="0" rIns="0" bIns="0" rtlCol="0" anchor="ctr"/>
          <a:lstStyle/>
          <a:p>
            <a:pPr marL="342900" indent="-342900">
              <a:lnSpc>
                <a:spcPct val="12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Çanakkale Savaşları'na dair tarihi araştırma ve arşiv çalışmalarına katkı</a:t>
            </a:r>
            <a:endParaRPr lang="en-US" sz="1400" dirty="0"/>
          </a:p>
          <a:p>
            <a:pPr marL="342900" indent="-342900">
              <a:lnSpc>
                <a:spcPct val="12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Tarihi, siyasi ve sanatsal içerikte sunumların Go to Ant projesiyle geliştirilmesi</a:t>
            </a:r>
            <a:endParaRPr lang="en-US" sz="1400" dirty="0"/>
          </a:p>
          <a:p>
            <a:pPr marL="342900" indent="-342900">
              <a:lnSpc>
                <a:spcPct val="125000"/>
              </a:lnSpc>
              <a:spcAft>
                <a:spcPts val="1000"/>
              </a:spcAft>
              <a:buSzPct val="100000"/>
              <a:buChar char="•"/>
            </a:pPr>
            <a:r>
              <a:rPr lang="en-US" sz="1400" dirty="0">
                <a:solidFill>
                  <a:srgbClr val="FFFFFF"/>
                </a:solidFill>
                <a:latin typeface="Calibri" pitchFamily="34" charset="0"/>
                <a:ea typeface="Calibri" pitchFamily="34" charset="-122"/>
                <a:cs typeface="Calibri" pitchFamily="34" charset="-120"/>
              </a:rPr>
              <a:t>Turizm şehri kimliğini, dünyanın en güzel şehirlerinden biri olma iddiasını güçlendiren bir kültürel miras vurgusu</a:t>
            </a:r>
            <a:endParaRPr lang="en-US" sz="1400" dirty="0"/>
          </a:p>
        </p:txBody>
      </p:sp>
      <p:sp>
        <p:nvSpPr>
          <p:cNvPr id="9" name="Text 7"/>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AFE3D4"/>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6E56"/>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6FC9AE"/>
                </a:solidFill>
                <a:latin typeface="Calibri" pitchFamily="34" charset="0"/>
                <a:ea typeface="Calibri" pitchFamily="34" charset="-122"/>
                <a:cs typeface="Calibri" pitchFamily="34" charset="-120"/>
              </a:rPr>
              <a:t>V İ Z Y O N</a:t>
            </a:r>
            <a:endParaRPr lang="en-US" sz="1100" dirty="0"/>
          </a:p>
        </p:txBody>
      </p:sp>
      <p:sp>
        <p:nvSpPr>
          <p:cNvPr id="3" name="Shape 1"/>
          <p:cNvSpPr/>
          <p:nvPr/>
        </p:nvSpPr>
        <p:spPr>
          <a:xfrm>
            <a:off x="548640" y="868680"/>
            <a:ext cx="54864" cy="1417320"/>
          </a:xfrm>
          <a:prstGeom prst="rect">
            <a:avLst/>
          </a:prstGeom>
          <a:solidFill>
            <a:srgbClr val="02C39A"/>
          </a:solidFill>
          <a:ln/>
        </p:spPr>
      </p:sp>
      <p:sp>
        <p:nvSpPr>
          <p:cNvPr id="4" name="Text 2"/>
          <p:cNvSpPr txBox="1"/>
          <p:nvPr/>
        </p:nvSpPr>
        <p:spPr>
          <a:xfrm>
            <a:off x="914400" y="822960"/>
            <a:ext cx="10332720" cy="1463040"/>
          </a:xfrm>
          <a:prstGeom prst="rect">
            <a:avLst/>
          </a:prstGeom>
          <a:noFill/>
          <a:ln/>
        </p:spPr>
        <p:txBody>
          <a:bodyPr wrap="square" lIns="0" tIns="0" rIns="0" bIns="0" rtlCol="0" anchor="ctr"/>
          <a:lstStyle/>
          <a:p>
            <a:pPr indent="0" marL="0">
              <a:lnSpc>
                <a:spcPct val="115000"/>
              </a:lnSpc>
              <a:buNone/>
            </a:pPr>
            <a:r>
              <a:rPr lang="en-US" sz="3200" b="1" dirty="0">
                <a:solidFill>
                  <a:srgbClr val="FFFFFF"/>
                </a:solidFill>
                <a:latin typeface="Cambria" pitchFamily="34" charset="0"/>
                <a:ea typeface="Cambria" pitchFamily="34" charset="-122"/>
                <a:cs typeface="Cambria" pitchFamily="34" charset="-120"/>
              </a:rPr>
              <a:t>Yüksek teknoloji, </a:t>
            </a:r>
            <a:pPr indent="0" marL="0">
              <a:lnSpc>
                <a:spcPct val="115000"/>
              </a:lnSpc>
              <a:buNone/>
            </a:pPr>
            <a:r>
              <a:rPr lang="en-US" sz="3200" b="1" dirty="0">
                <a:solidFill>
                  <a:srgbClr val="02C39A"/>
                </a:solidFill>
                <a:latin typeface="Cambria" pitchFamily="34" charset="0"/>
                <a:ea typeface="Cambria" pitchFamily="34" charset="-122"/>
                <a:cs typeface="Cambria" pitchFamily="34" charset="-120"/>
              </a:rPr>
              <a:t>yeşil bir gelecek</a:t>
            </a:r>
            <a:pPr indent="0" marL="0">
              <a:lnSpc>
                <a:spcPct val="115000"/>
              </a:lnSpc>
              <a:buNone/>
            </a:pPr>
            <a:r>
              <a:rPr lang="en-US" sz="3200" b="1" dirty="0">
                <a:solidFill>
                  <a:srgbClr val="FFFFFF"/>
                </a:solidFill>
                <a:latin typeface="Cambria" pitchFamily="34" charset="0"/>
                <a:ea typeface="Cambria" pitchFamily="34" charset="-122"/>
                <a:cs typeface="Cambria" pitchFamily="34" charset="-120"/>
              </a:rPr>
              <a:t> için var.</a:t>
            </a:r>
            <a:endParaRPr lang="en-US" sz="3200" dirty="0"/>
          </a:p>
        </p:txBody>
      </p:sp>
      <p:sp>
        <p:nvSpPr>
          <p:cNvPr id="5" name="Text 3"/>
          <p:cNvSpPr txBox="1"/>
          <p:nvPr/>
        </p:nvSpPr>
        <p:spPr>
          <a:xfrm>
            <a:off x="914400" y="2331720"/>
            <a:ext cx="9692640" cy="914400"/>
          </a:xfrm>
          <a:prstGeom prst="rect">
            <a:avLst/>
          </a:prstGeom>
          <a:noFill/>
          <a:ln/>
        </p:spPr>
        <p:txBody>
          <a:bodyPr wrap="square" lIns="0" tIns="0" rIns="0" bIns="0" rtlCol="0" anchor="ctr"/>
          <a:lstStyle/>
          <a:p>
            <a:pPr indent="0" marL="0">
              <a:lnSpc>
                <a:spcPct val="130000"/>
              </a:lnSpc>
              <a:buNone/>
            </a:pPr>
            <a:r>
              <a:rPr lang="en-US" sz="1600" i="1" dirty="0">
                <a:solidFill>
                  <a:srgbClr val="E1F5EE"/>
                </a:solidFill>
                <a:latin typeface="Calibri" pitchFamily="34" charset="0"/>
                <a:ea typeface="Calibri" pitchFamily="34" charset="-122"/>
                <a:cs typeface="Calibri" pitchFamily="34" charset="-120"/>
              </a:rPr>
              <a:t>Enerjinin etkin kullanımı, turizm şehrinin yeşilini koruması, çevre ve şehircilik bilincinin yükselmesi — bunların hepsi, doğru araçlarla donatılmış insan gücüyle mümkün.</a:t>
            </a:r>
            <a:endParaRPr lang="en-US" sz="1600" dirty="0"/>
          </a:p>
        </p:txBody>
      </p:sp>
      <p:sp>
        <p:nvSpPr>
          <p:cNvPr id="6" name="Shape 4"/>
          <p:cNvSpPr/>
          <p:nvPr/>
        </p:nvSpPr>
        <p:spPr>
          <a:xfrm>
            <a:off x="914400" y="3657600"/>
            <a:ext cx="3429000" cy="1920240"/>
          </a:xfrm>
          <a:prstGeom prst="roundRect">
            <a:avLst>
              <a:gd name="adj" fmla="val 4762"/>
            </a:avLst>
          </a:prstGeom>
          <a:solidFill>
            <a:srgbClr val="0C5A47"/>
          </a:solidFill>
          <a:ln/>
        </p:spPr>
      </p:sp>
      <p:sp>
        <p:nvSpPr>
          <p:cNvPr id="7" name="Text 5"/>
          <p:cNvSpPr txBox="1"/>
          <p:nvPr/>
        </p:nvSpPr>
        <p:spPr>
          <a:xfrm>
            <a:off x="1115568" y="3886200"/>
            <a:ext cx="3026664" cy="731520"/>
          </a:xfrm>
          <a:prstGeom prst="rect">
            <a:avLst/>
          </a:prstGeom>
          <a:noFill/>
          <a:ln/>
        </p:spPr>
        <p:txBody>
          <a:bodyPr wrap="square" lIns="0" tIns="0" rIns="0" bIns="0" rtlCol="0" anchor="ctr"/>
          <a:lstStyle/>
          <a:p>
            <a:pPr indent="0" marL="0">
              <a:lnSpc>
                <a:spcPct val="110000"/>
              </a:lnSpc>
              <a:buNone/>
            </a:pPr>
            <a:r>
              <a:rPr lang="en-US" sz="1500" b="1" dirty="0">
                <a:solidFill>
                  <a:srgbClr val="02C39A"/>
                </a:solidFill>
                <a:latin typeface="Cambria" pitchFamily="34" charset="0"/>
                <a:ea typeface="Cambria" pitchFamily="34" charset="-122"/>
                <a:cs typeface="Cambria" pitchFamily="34" charset="-120"/>
              </a:rPr>
              <a:t>Enerjinin etkin kullanımı</a:t>
            </a:r>
            <a:endParaRPr lang="en-US" sz="1500" dirty="0"/>
          </a:p>
        </p:txBody>
      </p:sp>
      <p:sp>
        <p:nvSpPr>
          <p:cNvPr id="8" name="Text 6"/>
          <p:cNvSpPr txBox="1"/>
          <p:nvPr/>
        </p:nvSpPr>
        <p:spPr>
          <a:xfrm>
            <a:off x="1115568" y="4617720"/>
            <a:ext cx="3026664" cy="822960"/>
          </a:xfrm>
          <a:prstGeom prst="rect">
            <a:avLst/>
          </a:prstGeom>
          <a:noFill/>
          <a:ln/>
        </p:spPr>
        <p:txBody>
          <a:bodyPr wrap="square" lIns="0" tIns="0" rIns="0" bIns="0"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Yapay zeka destekli izleme ve optimizasyon</a:t>
            </a:r>
            <a:endParaRPr lang="en-US" sz="1250" dirty="0"/>
          </a:p>
        </p:txBody>
      </p:sp>
      <p:sp>
        <p:nvSpPr>
          <p:cNvPr id="9" name="Shape 7"/>
          <p:cNvSpPr/>
          <p:nvPr/>
        </p:nvSpPr>
        <p:spPr>
          <a:xfrm>
            <a:off x="4599432" y="3657600"/>
            <a:ext cx="3429000" cy="1920240"/>
          </a:xfrm>
          <a:prstGeom prst="roundRect">
            <a:avLst>
              <a:gd name="adj" fmla="val 4762"/>
            </a:avLst>
          </a:prstGeom>
          <a:solidFill>
            <a:srgbClr val="0C5A47"/>
          </a:solidFill>
          <a:ln/>
        </p:spPr>
      </p:sp>
      <p:sp>
        <p:nvSpPr>
          <p:cNvPr id="10" name="Text 8"/>
          <p:cNvSpPr txBox="1"/>
          <p:nvPr/>
        </p:nvSpPr>
        <p:spPr>
          <a:xfrm>
            <a:off x="4800600" y="3886200"/>
            <a:ext cx="3026664" cy="731520"/>
          </a:xfrm>
          <a:prstGeom prst="rect">
            <a:avLst/>
          </a:prstGeom>
          <a:noFill/>
          <a:ln/>
        </p:spPr>
        <p:txBody>
          <a:bodyPr wrap="square" lIns="0" tIns="0" rIns="0" bIns="0" rtlCol="0" anchor="ctr"/>
          <a:lstStyle/>
          <a:p>
            <a:pPr indent="0" marL="0">
              <a:lnSpc>
                <a:spcPct val="110000"/>
              </a:lnSpc>
              <a:buNone/>
            </a:pPr>
            <a:r>
              <a:rPr lang="en-US" sz="1500" b="1" dirty="0">
                <a:solidFill>
                  <a:srgbClr val="02C39A"/>
                </a:solidFill>
                <a:latin typeface="Cambria" pitchFamily="34" charset="0"/>
                <a:ea typeface="Cambria" pitchFamily="34" charset="-122"/>
                <a:cs typeface="Cambria" pitchFamily="34" charset="-120"/>
              </a:rPr>
              <a:t>Yeşil turizm şehri</a:t>
            </a:r>
            <a:endParaRPr lang="en-US" sz="1500" dirty="0"/>
          </a:p>
        </p:txBody>
      </p:sp>
      <p:sp>
        <p:nvSpPr>
          <p:cNvPr id="11" name="Text 9"/>
          <p:cNvSpPr txBox="1"/>
          <p:nvPr/>
        </p:nvSpPr>
        <p:spPr>
          <a:xfrm>
            <a:off x="4800600" y="4617720"/>
            <a:ext cx="3026664" cy="822960"/>
          </a:xfrm>
          <a:prstGeom prst="rect">
            <a:avLst/>
          </a:prstGeom>
          <a:noFill/>
          <a:ln/>
        </p:spPr>
        <p:txBody>
          <a:bodyPr wrap="square" lIns="0" tIns="0" rIns="0" bIns="0"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Doğal dokuyu koruyan, bilinçli büyüme</a:t>
            </a:r>
            <a:endParaRPr lang="en-US" sz="1250" dirty="0"/>
          </a:p>
        </p:txBody>
      </p:sp>
      <p:sp>
        <p:nvSpPr>
          <p:cNvPr id="12" name="Shape 10"/>
          <p:cNvSpPr/>
          <p:nvPr/>
        </p:nvSpPr>
        <p:spPr>
          <a:xfrm>
            <a:off x="8284464" y="3657600"/>
            <a:ext cx="3429000" cy="1920240"/>
          </a:xfrm>
          <a:prstGeom prst="roundRect">
            <a:avLst>
              <a:gd name="adj" fmla="val 4762"/>
            </a:avLst>
          </a:prstGeom>
          <a:solidFill>
            <a:srgbClr val="0C5A47"/>
          </a:solidFill>
          <a:ln/>
        </p:spPr>
      </p:sp>
      <p:sp>
        <p:nvSpPr>
          <p:cNvPr id="13" name="Text 11"/>
          <p:cNvSpPr txBox="1"/>
          <p:nvPr/>
        </p:nvSpPr>
        <p:spPr>
          <a:xfrm>
            <a:off x="8485632" y="3886200"/>
            <a:ext cx="3026664" cy="731520"/>
          </a:xfrm>
          <a:prstGeom prst="rect">
            <a:avLst/>
          </a:prstGeom>
          <a:noFill/>
          <a:ln/>
        </p:spPr>
        <p:txBody>
          <a:bodyPr wrap="square" lIns="0" tIns="0" rIns="0" bIns="0" rtlCol="0" anchor="ctr"/>
          <a:lstStyle/>
          <a:p>
            <a:pPr indent="0" marL="0">
              <a:lnSpc>
                <a:spcPct val="110000"/>
              </a:lnSpc>
              <a:buNone/>
            </a:pPr>
            <a:r>
              <a:rPr lang="en-US" sz="1500" b="1" dirty="0">
                <a:solidFill>
                  <a:srgbClr val="02C39A"/>
                </a:solidFill>
                <a:latin typeface="Cambria" pitchFamily="34" charset="0"/>
                <a:ea typeface="Cambria" pitchFamily="34" charset="-122"/>
                <a:cs typeface="Cambria" pitchFamily="34" charset="-120"/>
              </a:rPr>
              <a:t>Çevre &amp; şehircilik bilinci</a:t>
            </a:r>
            <a:endParaRPr lang="en-US" sz="1500" dirty="0"/>
          </a:p>
        </p:txBody>
      </p:sp>
      <p:sp>
        <p:nvSpPr>
          <p:cNvPr id="14" name="Text 12"/>
          <p:cNvSpPr txBox="1"/>
          <p:nvPr/>
        </p:nvSpPr>
        <p:spPr>
          <a:xfrm>
            <a:off x="8485632" y="4617720"/>
            <a:ext cx="3026664" cy="822960"/>
          </a:xfrm>
          <a:prstGeom prst="rect">
            <a:avLst/>
          </a:prstGeom>
          <a:noFill/>
          <a:ln/>
        </p:spPr>
        <p:txBody>
          <a:bodyPr wrap="square" lIns="0" tIns="0" rIns="0" bIns="0" rtlCol="0" anchor="ctr"/>
          <a:lstStyle/>
          <a:p>
            <a:pPr indent="0" marL="0">
              <a:lnSpc>
                <a:spcPct val="125000"/>
              </a:lnSpc>
              <a:buNone/>
            </a:pPr>
            <a:r>
              <a:rPr lang="en-US" sz="1250" dirty="0">
                <a:solidFill>
                  <a:srgbClr val="FFFFFF"/>
                </a:solidFill>
                <a:latin typeface="Calibri" pitchFamily="34" charset="0"/>
                <a:ea typeface="Calibri" pitchFamily="34" charset="-122"/>
                <a:cs typeface="Calibri" pitchFamily="34" charset="-120"/>
              </a:rPr>
              <a:t>Karar vericilerde ve toplumda farkındalık</a:t>
            </a:r>
            <a:endParaRPr lang="en-US" sz="1250" dirty="0"/>
          </a:p>
        </p:txBody>
      </p:sp>
      <p:sp>
        <p:nvSpPr>
          <p:cNvPr id="15" name="Text 13"/>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AFE3D4"/>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0F6E56"/>
                </a:solidFill>
                <a:latin typeface="Calibri" pitchFamily="34" charset="0"/>
                <a:ea typeface="Calibri" pitchFamily="34" charset="-122"/>
                <a:cs typeface="Calibri" pitchFamily="34" charset="-120"/>
              </a:rPr>
              <a:t>P A Y D A Ş L A R</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1A2E28"/>
                </a:solidFill>
                <a:latin typeface="Cambria" pitchFamily="34" charset="0"/>
                <a:ea typeface="Cambria" pitchFamily="34" charset="-122"/>
                <a:cs typeface="Cambria" pitchFamily="34" charset="-120"/>
              </a:rPr>
              <a:t>Kimlerden katkı bekliyoruz?</a:t>
            </a:r>
            <a:endParaRPr lang="en-US" sz="3000" dirty="0"/>
          </a:p>
        </p:txBody>
      </p:sp>
      <p:sp>
        <p:nvSpPr>
          <p:cNvPr id="4" name="Shape 2"/>
          <p:cNvSpPr/>
          <p:nvPr/>
        </p:nvSpPr>
        <p:spPr>
          <a:xfrm>
            <a:off x="548640" y="1280160"/>
            <a:ext cx="11064240" cy="18288"/>
          </a:xfrm>
          <a:prstGeom prst="rect">
            <a:avLst/>
          </a:prstGeom>
          <a:solidFill>
            <a:srgbClr val="E1F5EE"/>
          </a:solidFill>
          <a:ln/>
        </p:spPr>
      </p:sp>
      <p:sp>
        <p:nvSpPr>
          <p:cNvPr id="5" name="Shape 3"/>
          <p:cNvSpPr/>
          <p:nvPr/>
        </p:nvSpPr>
        <p:spPr>
          <a:xfrm>
            <a:off x="548640" y="1645920"/>
            <a:ext cx="3520440" cy="1600200"/>
          </a:xfrm>
          <a:prstGeom prst="roundRect">
            <a:avLst>
              <a:gd name="adj" fmla="val 5714"/>
            </a:avLst>
          </a:prstGeom>
          <a:solidFill>
            <a:srgbClr val="E1F5EE"/>
          </a:solidFill>
          <a:ln/>
        </p:spPr>
      </p:sp>
      <p:sp>
        <p:nvSpPr>
          <p:cNvPr id="6" name="Text 4"/>
          <p:cNvSpPr txBox="1"/>
          <p:nvPr/>
        </p:nvSpPr>
        <p:spPr>
          <a:xfrm>
            <a:off x="731520" y="1810512"/>
            <a:ext cx="3154680" cy="548640"/>
          </a:xfrm>
          <a:prstGeom prst="rect">
            <a:avLst/>
          </a:prstGeom>
          <a:noFill/>
          <a:ln/>
        </p:spPr>
        <p:txBody>
          <a:bodyPr wrap="square" lIns="0" tIns="0" rIns="0" bIns="0" rtlCol="0" anchor="ctr"/>
          <a:lstStyle/>
          <a:p>
            <a:pPr indent="0" marL="0">
              <a:lnSpc>
                <a:spcPct val="110000"/>
              </a:lnSpc>
              <a:buNone/>
            </a:pPr>
            <a:r>
              <a:rPr lang="en-US" sz="1400" b="1" dirty="0">
                <a:solidFill>
                  <a:srgbClr val="0F6E56"/>
                </a:solidFill>
                <a:latin typeface="Cambria" pitchFamily="34" charset="0"/>
                <a:ea typeface="Cambria" pitchFamily="34" charset="-122"/>
                <a:cs typeface="Cambria" pitchFamily="34" charset="-120"/>
              </a:rPr>
              <a:t>Rüzgar enerjisi imalatçıları</a:t>
            </a:r>
            <a:endParaRPr lang="en-US" sz="1400" dirty="0"/>
          </a:p>
        </p:txBody>
      </p:sp>
      <p:sp>
        <p:nvSpPr>
          <p:cNvPr id="7" name="Text 5"/>
          <p:cNvSpPr txBox="1"/>
          <p:nvPr/>
        </p:nvSpPr>
        <p:spPr>
          <a:xfrm>
            <a:off x="731520" y="2359152"/>
            <a:ext cx="3154680" cy="822960"/>
          </a:xfrm>
          <a:prstGeom prst="rect">
            <a:avLst/>
          </a:prstGeom>
          <a:noFill/>
          <a:ln/>
        </p:spPr>
        <p:txBody>
          <a:bodyPr wrap="square" lIns="0" tIns="0" rIns="0" bIns="0" rtlCol="0" anchor="ctr"/>
          <a:lstStyle/>
          <a:p>
            <a:pPr indent="0" marL="0">
              <a:lnSpc>
                <a:spcPct val="120000"/>
              </a:lnSpc>
              <a:buNone/>
            </a:pPr>
            <a:r>
              <a:rPr lang="en-US" sz="1150" dirty="0">
                <a:solidFill>
                  <a:srgbClr val="0F6E56"/>
                </a:solidFill>
                <a:latin typeface="Calibri" pitchFamily="34" charset="0"/>
                <a:ea typeface="Calibri" pitchFamily="34" charset="-122"/>
                <a:cs typeface="Calibri" pitchFamily="34" charset="-120"/>
              </a:rPr>
              <a:t>Türbin üretimi ve enerji santrali işletmecileri</a:t>
            </a:r>
            <a:endParaRPr lang="en-US" sz="1150" dirty="0"/>
          </a:p>
        </p:txBody>
      </p:sp>
      <p:sp>
        <p:nvSpPr>
          <p:cNvPr id="8" name="Shape 6"/>
          <p:cNvSpPr/>
          <p:nvPr/>
        </p:nvSpPr>
        <p:spPr>
          <a:xfrm>
            <a:off x="4297680" y="1645920"/>
            <a:ext cx="3520440" cy="1600200"/>
          </a:xfrm>
          <a:prstGeom prst="roundRect">
            <a:avLst>
              <a:gd name="adj" fmla="val 5714"/>
            </a:avLst>
          </a:prstGeom>
          <a:solidFill>
            <a:srgbClr val="0F6E56"/>
          </a:solidFill>
          <a:ln/>
        </p:spPr>
      </p:sp>
      <p:sp>
        <p:nvSpPr>
          <p:cNvPr id="9" name="Text 7"/>
          <p:cNvSpPr txBox="1"/>
          <p:nvPr/>
        </p:nvSpPr>
        <p:spPr>
          <a:xfrm>
            <a:off x="4480560" y="1810512"/>
            <a:ext cx="3154680" cy="54864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Cambria" pitchFamily="34" charset="0"/>
                <a:ea typeface="Cambria" pitchFamily="34" charset="-122"/>
                <a:cs typeface="Cambria" pitchFamily="34" charset="-120"/>
              </a:rPr>
              <a:t>Fabrikalar ve sanayi kuruluşları</a:t>
            </a:r>
            <a:endParaRPr lang="en-US" sz="1400" dirty="0"/>
          </a:p>
        </p:txBody>
      </p:sp>
      <p:sp>
        <p:nvSpPr>
          <p:cNvPr id="10" name="Text 8"/>
          <p:cNvSpPr txBox="1"/>
          <p:nvPr/>
        </p:nvSpPr>
        <p:spPr>
          <a:xfrm>
            <a:off x="4480560" y="2359152"/>
            <a:ext cx="3154680" cy="822960"/>
          </a:xfrm>
          <a:prstGeom prst="rect">
            <a:avLst/>
          </a:prstGeom>
          <a:noFill/>
          <a:ln/>
        </p:spPr>
        <p:txBody>
          <a:bodyPr wrap="square" lIns="0" tIns="0" rIns="0" bIns="0" rtlCol="0" anchor="ctr"/>
          <a:lstStyle/>
          <a:p>
            <a:pPr indent="0" marL="0">
              <a:lnSpc>
                <a:spcPct val="120000"/>
              </a:lnSpc>
              <a:buNone/>
            </a:pPr>
            <a:r>
              <a:rPr lang="en-US" sz="1150" dirty="0">
                <a:solidFill>
                  <a:srgbClr val="FFFFFF"/>
                </a:solidFill>
                <a:latin typeface="Calibri" pitchFamily="34" charset="0"/>
                <a:ea typeface="Calibri" pitchFamily="34" charset="-122"/>
                <a:cs typeface="Calibri" pitchFamily="34" charset="-120"/>
              </a:rPr>
              <a:t>Çanakkale'de faaliyet gösteren ticari işletmeler</a:t>
            </a:r>
            <a:endParaRPr lang="en-US" sz="1150" dirty="0"/>
          </a:p>
        </p:txBody>
      </p:sp>
      <p:sp>
        <p:nvSpPr>
          <p:cNvPr id="11" name="Shape 9"/>
          <p:cNvSpPr/>
          <p:nvPr/>
        </p:nvSpPr>
        <p:spPr>
          <a:xfrm>
            <a:off x="8046720" y="1645920"/>
            <a:ext cx="3520440" cy="1600200"/>
          </a:xfrm>
          <a:prstGeom prst="roundRect">
            <a:avLst>
              <a:gd name="adj" fmla="val 5714"/>
            </a:avLst>
          </a:prstGeom>
          <a:solidFill>
            <a:srgbClr val="E1F5EE"/>
          </a:solidFill>
          <a:ln/>
        </p:spPr>
      </p:sp>
      <p:sp>
        <p:nvSpPr>
          <p:cNvPr id="12" name="Text 10"/>
          <p:cNvSpPr txBox="1"/>
          <p:nvPr/>
        </p:nvSpPr>
        <p:spPr>
          <a:xfrm>
            <a:off x="8229600" y="1810512"/>
            <a:ext cx="3154680" cy="548640"/>
          </a:xfrm>
          <a:prstGeom prst="rect">
            <a:avLst/>
          </a:prstGeom>
          <a:noFill/>
          <a:ln/>
        </p:spPr>
        <p:txBody>
          <a:bodyPr wrap="square" lIns="0" tIns="0" rIns="0" bIns="0" rtlCol="0" anchor="ctr"/>
          <a:lstStyle/>
          <a:p>
            <a:pPr indent="0" marL="0">
              <a:lnSpc>
                <a:spcPct val="110000"/>
              </a:lnSpc>
              <a:buNone/>
            </a:pPr>
            <a:r>
              <a:rPr lang="en-US" sz="1400" b="1" dirty="0">
                <a:solidFill>
                  <a:srgbClr val="0F6E56"/>
                </a:solidFill>
                <a:latin typeface="Cambria" pitchFamily="34" charset="0"/>
                <a:ea typeface="Cambria" pitchFamily="34" charset="-122"/>
                <a:cs typeface="Cambria" pitchFamily="34" charset="-120"/>
              </a:rPr>
              <a:t>Belediyeler</a:t>
            </a:r>
            <a:endParaRPr lang="en-US" sz="1400" dirty="0"/>
          </a:p>
        </p:txBody>
      </p:sp>
      <p:sp>
        <p:nvSpPr>
          <p:cNvPr id="13" name="Text 11"/>
          <p:cNvSpPr txBox="1"/>
          <p:nvPr/>
        </p:nvSpPr>
        <p:spPr>
          <a:xfrm>
            <a:off x="8229600" y="2359152"/>
            <a:ext cx="3154680" cy="822960"/>
          </a:xfrm>
          <a:prstGeom prst="rect">
            <a:avLst/>
          </a:prstGeom>
          <a:noFill/>
          <a:ln/>
        </p:spPr>
        <p:txBody>
          <a:bodyPr wrap="square" lIns="0" tIns="0" rIns="0" bIns="0" rtlCol="0" anchor="ctr"/>
          <a:lstStyle/>
          <a:p>
            <a:pPr indent="0" marL="0">
              <a:lnSpc>
                <a:spcPct val="120000"/>
              </a:lnSpc>
              <a:buNone/>
            </a:pPr>
            <a:r>
              <a:rPr lang="en-US" sz="1150" dirty="0">
                <a:solidFill>
                  <a:srgbClr val="0F6E56"/>
                </a:solidFill>
                <a:latin typeface="Calibri" pitchFamily="34" charset="0"/>
                <a:ea typeface="Calibri" pitchFamily="34" charset="-122"/>
                <a:cs typeface="Calibri" pitchFamily="34" charset="-120"/>
              </a:rPr>
              <a:t>Yerel yönetimler ve kamu hizmeti birimleri</a:t>
            </a:r>
            <a:endParaRPr lang="en-US" sz="1150" dirty="0"/>
          </a:p>
        </p:txBody>
      </p:sp>
      <p:sp>
        <p:nvSpPr>
          <p:cNvPr id="14" name="Shape 12"/>
          <p:cNvSpPr/>
          <p:nvPr/>
        </p:nvSpPr>
        <p:spPr>
          <a:xfrm>
            <a:off x="548640" y="3474720"/>
            <a:ext cx="3520440" cy="1600200"/>
          </a:xfrm>
          <a:prstGeom prst="roundRect">
            <a:avLst>
              <a:gd name="adj" fmla="val 5714"/>
            </a:avLst>
          </a:prstGeom>
          <a:solidFill>
            <a:srgbClr val="0F6E56"/>
          </a:solidFill>
          <a:ln/>
        </p:spPr>
      </p:sp>
      <p:sp>
        <p:nvSpPr>
          <p:cNvPr id="15" name="Text 13"/>
          <p:cNvSpPr txBox="1"/>
          <p:nvPr/>
        </p:nvSpPr>
        <p:spPr>
          <a:xfrm>
            <a:off x="731520" y="3639312"/>
            <a:ext cx="3154680" cy="54864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Cambria" pitchFamily="34" charset="0"/>
                <a:ea typeface="Cambria" pitchFamily="34" charset="-122"/>
                <a:cs typeface="Cambria" pitchFamily="34" charset="-120"/>
              </a:rPr>
              <a:t>Çanakkale Alan Başkanlığı</a:t>
            </a:r>
            <a:endParaRPr lang="en-US" sz="1400" dirty="0"/>
          </a:p>
        </p:txBody>
      </p:sp>
      <p:sp>
        <p:nvSpPr>
          <p:cNvPr id="16" name="Text 14"/>
          <p:cNvSpPr txBox="1"/>
          <p:nvPr/>
        </p:nvSpPr>
        <p:spPr>
          <a:xfrm>
            <a:off x="731520" y="4187952"/>
            <a:ext cx="3154680" cy="822960"/>
          </a:xfrm>
          <a:prstGeom prst="rect">
            <a:avLst/>
          </a:prstGeom>
          <a:noFill/>
          <a:ln/>
        </p:spPr>
        <p:txBody>
          <a:bodyPr wrap="square" lIns="0" tIns="0" rIns="0" bIns="0" rtlCol="0" anchor="ctr"/>
          <a:lstStyle/>
          <a:p>
            <a:pPr indent="0" marL="0">
              <a:lnSpc>
                <a:spcPct val="120000"/>
              </a:lnSpc>
              <a:buNone/>
            </a:pPr>
            <a:r>
              <a:rPr lang="en-US" sz="1150" dirty="0">
                <a:solidFill>
                  <a:srgbClr val="FFFFFF"/>
                </a:solidFill>
                <a:latin typeface="Calibri" pitchFamily="34" charset="0"/>
                <a:ea typeface="Calibri" pitchFamily="34" charset="-122"/>
                <a:cs typeface="Calibri" pitchFamily="34" charset="-120"/>
              </a:rPr>
              <a:t>Çanakkale Savaşları'nın tarihi, siyasi ve sanatsal mirasına katkı</a:t>
            </a:r>
            <a:endParaRPr lang="en-US" sz="1150" dirty="0"/>
          </a:p>
        </p:txBody>
      </p:sp>
      <p:sp>
        <p:nvSpPr>
          <p:cNvPr id="17" name="Shape 15"/>
          <p:cNvSpPr/>
          <p:nvPr/>
        </p:nvSpPr>
        <p:spPr>
          <a:xfrm>
            <a:off x="4297680" y="3474720"/>
            <a:ext cx="3520440" cy="1600200"/>
          </a:xfrm>
          <a:prstGeom prst="roundRect">
            <a:avLst>
              <a:gd name="adj" fmla="val 5714"/>
            </a:avLst>
          </a:prstGeom>
          <a:solidFill>
            <a:srgbClr val="E1F5EE"/>
          </a:solidFill>
          <a:ln/>
        </p:spPr>
      </p:sp>
      <p:sp>
        <p:nvSpPr>
          <p:cNvPr id="18" name="Text 16"/>
          <p:cNvSpPr txBox="1"/>
          <p:nvPr/>
        </p:nvSpPr>
        <p:spPr>
          <a:xfrm>
            <a:off x="4480560" y="3639312"/>
            <a:ext cx="3154680" cy="548640"/>
          </a:xfrm>
          <a:prstGeom prst="rect">
            <a:avLst/>
          </a:prstGeom>
          <a:noFill/>
          <a:ln/>
        </p:spPr>
        <p:txBody>
          <a:bodyPr wrap="square" lIns="0" tIns="0" rIns="0" bIns="0" rtlCol="0" anchor="ctr"/>
          <a:lstStyle/>
          <a:p>
            <a:pPr indent="0" marL="0">
              <a:lnSpc>
                <a:spcPct val="110000"/>
              </a:lnSpc>
              <a:buNone/>
            </a:pPr>
            <a:r>
              <a:rPr lang="en-US" sz="1400" b="1" dirty="0">
                <a:solidFill>
                  <a:srgbClr val="0F6E56"/>
                </a:solidFill>
                <a:latin typeface="Cambria" pitchFamily="34" charset="0"/>
                <a:ea typeface="Cambria" pitchFamily="34" charset="-122"/>
                <a:cs typeface="Cambria" pitchFamily="34" charset="-120"/>
              </a:rPr>
              <a:t>Sivil toplum kuruluşları</a:t>
            </a:r>
            <a:endParaRPr lang="en-US" sz="1400" dirty="0"/>
          </a:p>
        </p:txBody>
      </p:sp>
      <p:sp>
        <p:nvSpPr>
          <p:cNvPr id="19" name="Text 17"/>
          <p:cNvSpPr txBox="1"/>
          <p:nvPr/>
        </p:nvSpPr>
        <p:spPr>
          <a:xfrm>
            <a:off x="4480560" y="4187952"/>
            <a:ext cx="3154680" cy="822960"/>
          </a:xfrm>
          <a:prstGeom prst="rect">
            <a:avLst/>
          </a:prstGeom>
          <a:noFill/>
          <a:ln/>
        </p:spPr>
        <p:txBody>
          <a:bodyPr wrap="square" lIns="0" tIns="0" rIns="0" bIns="0" rtlCol="0" anchor="ctr"/>
          <a:lstStyle/>
          <a:p>
            <a:pPr indent="0" marL="0">
              <a:lnSpc>
                <a:spcPct val="120000"/>
              </a:lnSpc>
              <a:buNone/>
            </a:pPr>
            <a:r>
              <a:rPr lang="en-US" sz="1150" dirty="0">
                <a:solidFill>
                  <a:srgbClr val="0F6E56"/>
                </a:solidFill>
                <a:latin typeface="Calibri" pitchFamily="34" charset="0"/>
                <a:ea typeface="Calibri" pitchFamily="34" charset="-122"/>
                <a:cs typeface="Calibri" pitchFamily="34" charset="-120"/>
              </a:rPr>
              <a:t>Çevre, kültür ve tarih alanında çalışan dernek ve vakıflar</a:t>
            </a:r>
            <a:endParaRPr lang="en-US" sz="1150" dirty="0"/>
          </a:p>
        </p:txBody>
      </p:sp>
      <p:sp>
        <p:nvSpPr>
          <p:cNvPr id="20" name="Shape 18"/>
          <p:cNvSpPr/>
          <p:nvPr/>
        </p:nvSpPr>
        <p:spPr>
          <a:xfrm>
            <a:off x="8046720" y="3474720"/>
            <a:ext cx="3520440" cy="1600200"/>
          </a:xfrm>
          <a:prstGeom prst="roundRect">
            <a:avLst>
              <a:gd name="adj" fmla="val 5714"/>
            </a:avLst>
          </a:prstGeom>
          <a:solidFill>
            <a:srgbClr val="0F6E56"/>
          </a:solidFill>
          <a:ln/>
        </p:spPr>
      </p:sp>
      <p:sp>
        <p:nvSpPr>
          <p:cNvPr id="21" name="Text 19"/>
          <p:cNvSpPr txBox="1"/>
          <p:nvPr/>
        </p:nvSpPr>
        <p:spPr>
          <a:xfrm>
            <a:off x="8229600" y="3639312"/>
            <a:ext cx="3154680" cy="548640"/>
          </a:xfrm>
          <a:prstGeom prst="rect">
            <a:avLst/>
          </a:prstGeom>
          <a:noFill/>
          <a:ln/>
        </p:spPr>
        <p:txBody>
          <a:bodyPr wrap="square" lIns="0" tIns="0" rIns="0" bIns="0" rtlCol="0" anchor="ctr"/>
          <a:lstStyle/>
          <a:p>
            <a:pPr indent="0" marL="0">
              <a:lnSpc>
                <a:spcPct val="110000"/>
              </a:lnSpc>
              <a:buNone/>
            </a:pPr>
            <a:r>
              <a:rPr lang="en-US" sz="1400" b="1" dirty="0">
                <a:solidFill>
                  <a:srgbClr val="FFFFFF"/>
                </a:solidFill>
                <a:latin typeface="Cambria" pitchFamily="34" charset="0"/>
                <a:ea typeface="Cambria" pitchFamily="34" charset="-122"/>
                <a:cs typeface="Cambria" pitchFamily="34" charset="-120"/>
              </a:rPr>
              <a:t>Mühendisler ve yöneticiler</a:t>
            </a:r>
            <a:endParaRPr lang="en-US" sz="1400" dirty="0"/>
          </a:p>
        </p:txBody>
      </p:sp>
      <p:sp>
        <p:nvSpPr>
          <p:cNvPr id="22" name="Text 20"/>
          <p:cNvSpPr txBox="1"/>
          <p:nvPr/>
        </p:nvSpPr>
        <p:spPr>
          <a:xfrm>
            <a:off x="8229600" y="4187952"/>
            <a:ext cx="3154680" cy="822960"/>
          </a:xfrm>
          <a:prstGeom prst="rect">
            <a:avLst/>
          </a:prstGeom>
          <a:noFill/>
          <a:ln/>
        </p:spPr>
        <p:txBody>
          <a:bodyPr wrap="square" lIns="0" tIns="0" rIns="0" bIns="0" rtlCol="0" anchor="ctr"/>
          <a:lstStyle/>
          <a:p>
            <a:pPr indent="0" marL="0">
              <a:lnSpc>
                <a:spcPct val="120000"/>
              </a:lnSpc>
              <a:buNone/>
            </a:pPr>
            <a:r>
              <a:rPr lang="en-US" sz="1150" dirty="0">
                <a:solidFill>
                  <a:srgbClr val="FFFFFF"/>
                </a:solidFill>
                <a:latin typeface="Calibri" pitchFamily="34" charset="0"/>
                <a:ea typeface="Calibri" pitchFamily="34" charset="-122"/>
                <a:cs typeface="Calibri" pitchFamily="34" charset="-120"/>
              </a:rPr>
              <a:t>Alanında uzman, gönüllü katkı sağlayabilecek profesyoneller</a:t>
            </a:r>
            <a:endParaRPr lang="en-US" sz="1150" dirty="0"/>
          </a:p>
        </p:txBody>
      </p:sp>
      <p:sp>
        <p:nvSpPr>
          <p:cNvPr id="23" name="Text 21"/>
          <p:cNvSpPr txBox="1"/>
          <p:nvPr/>
        </p:nvSpPr>
        <p:spPr>
          <a:xfrm>
            <a:off x="548640" y="5349240"/>
            <a:ext cx="11064240" cy="548640"/>
          </a:xfrm>
          <a:prstGeom prst="rect">
            <a:avLst/>
          </a:prstGeom>
          <a:noFill/>
          <a:ln/>
        </p:spPr>
        <p:txBody>
          <a:bodyPr wrap="square" lIns="0" tIns="0" rIns="0" bIns="0" rtlCol="0" anchor="ctr"/>
          <a:lstStyle/>
          <a:p>
            <a:pPr indent="0" marL="0">
              <a:buNone/>
            </a:pPr>
            <a:r>
              <a:rPr lang="en-US" sz="1350" i="1" dirty="0">
                <a:solidFill>
                  <a:srgbClr val="5F6E68"/>
                </a:solidFill>
                <a:latin typeface="Calibri" pitchFamily="34" charset="0"/>
                <a:ea typeface="Calibri" pitchFamily="34" charset="-122"/>
                <a:cs typeface="Calibri" pitchFamily="34" charset="-120"/>
              </a:rPr>
              <a:t>Amacımız, üniversitenin akademik bilgisiyle sahadaki mühendislik, yönetim ve tarih birikimini aynı masada buluşturmak.</a:t>
            </a:r>
            <a:endParaRPr lang="en-US" sz="1350" dirty="0"/>
          </a:p>
        </p:txBody>
      </p:sp>
      <p:sp>
        <p:nvSpPr>
          <p:cNvPr id="24" name="Text 22"/>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F6E68"/>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0F6E56"/>
                </a:solidFill>
                <a:latin typeface="Calibri" pitchFamily="34" charset="0"/>
                <a:ea typeface="Calibri" pitchFamily="34" charset="-122"/>
                <a:cs typeface="Calibri" pitchFamily="34" charset="-120"/>
              </a:rPr>
              <a:t>K A T K I   Ş E K İ L L E R İ</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1A2E28"/>
                </a:solidFill>
                <a:latin typeface="Cambria" pitchFamily="34" charset="0"/>
                <a:ea typeface="Cambria" pitchFamily="34" charset="-122"/>
                <a:cs typeface="Cambria" pitchFamily="34" charset="-120"/>
              </a:rPr>
              <a:t>Nasıl katkı sağlanabilir?</a:t>
            </a:r>
            <a:endParaRPr lang="en-US" sz="3000" dirty="0"/>
          </a:p>
        </p:txBody>
      </p:sp>
      <p:sp>
        <p:nvSpPr>
          <p:cNvPr id="4" name="Shape 2"/>
          <p:cNvSpPr/>
          <p:nvPr/>
        </p:nvSpPr>
        <p:spPr>
          <a:xfrm>
            <a:off x="548640" y="1280160"/>
            <a:ext cx="11064240" cy="18288"/>
          </a:xfrm>
          <a:prstGeom prst="rect">
            <a:avLst/>
          </a:prstGeom>
          <a:solidFill>
            <a:srgbClr val="E1F5EE"/>
          </a:solidFill>
          <a:ln/>
        </p:spPr>
      </p:sp>
      <p:sp>
        <p:nvSpPr>
          <p:cNvPr id="5" name="Shape 3"/>
          <p:cNvSpPr/>
          <p:nvPr/>
        </p:nvSpPr>
        <p:spPr>
          <a:xfrm>
            <a:off x="548640" y="1691640"/>
            <a:ext cx="3520440" cy="2651760"/>
          </a:xfrm>
          <a:prstGeom prst="roundRect">
            <a:avLst>
              <a:gd name="adj" fmla="val 4138"/>
            </a:avLst>
          </a:prstGeom>
          <a:solidFill>
            <a:srgbClr val="0F6E56"/>
          </a:solidFill>
          <a:ln/>
        </p:spPr>
      </p:sp>
      <p:sp>
        <p:nvSpPr>
          <p:cNvPr id="6" name="Text 4"/>
          <p:cNvSpPr txBox="1"/>
          <p:nvPr/>
        </p:nvSpPr>
        <p:spPr>
          <a:xfrm>
            <a:off x="777240" y="1965960"/>
            <a:ext cx="306324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Konuk konuşmacı</a:t>
            </a:r>
            <a:endParaRPr lang="en-US" sz="1800" dirty="0"/>
          </a:p>
        </p:txBody>
      </p:sp>
      <p:sp>
        <p:nvSpPr>
          <p:cNvPr id="7" name="Text 5"/>
          <p:cNvSpPr txBox="1"/>
          <p:nvPr/>
        </p:nvSpPr>
        <p:spPr>
          <a:xfrm>
            <a:off x="777240" y="2606040"/>
            <a:ext cx="3063240" cy="155448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Kendi alanınızdan bir başlıkla tek seferlik online ders/sunum verin</a:t>
            </a:r>
            <a:endParaRPr lang="en-US" sz="1350" dirty="0"/>
          </a:p>
        </p:txBody>
      </p:sp>
      <p:sp>
        <p:nvSpPr>
          <p:cNvPr id="8" name="Shape 6"/>
          <p:cNvSpPr/>
          <p:nvPr/>
        </p:nvSpPr>
        <p:spPr>
          <a:xfrm>
            <a:off x="4343400" y="1691640"/>
            <a:ext cx="3520440" cy="2651760"/>
          </a:xfrm>
          <a:prstGeom prst="roundRect">
            <a:avLst>
              <a:gd name="adj" fmla="val 4138"/>
            </a:avLst>
          </a:prstGeom>
          <a:solidFill>
            <a:srgbClr val="02C39A"/>
          </a:solidFill>
          <a:ln/>
        </p:spPr>
      </p:sp>
      <p:sp>
        <p:nvSpPr>
          <p:cNvPr id="9" name="Text 7"/>
          <p:cNvSpPr txBox="1"/>
          <p:nvPr/>
        </p:nvSpPr>
        <p:spPr>
          <a:xfrm>
            <a:off x="4572000" y="1965960"/>
            <a:ext cx="306324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Vaka çalışması</a:t>
            </a:r>
            <a:endParaRPr lang="en-US" sz="1800" dirty="0"/>
          </a:p>
        </p:txBody>
      </p:sp>
      <p:sp>
        <p:nvSpPr>
          <p:cNvPr id="10" name="Text 8"/>
          <p:cNvSpPr txBox="1"/>
          <p:nvPr/>
        </p:nvSpPr>
        <p:spPr>
          <a:xfrm>
            <a:off x="4572000" y="2606040"/>
            <a:ext cx="3063240" cy="155448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Gerçek bir problemi veya veri setini öğrencilerle paylaşın, birlikte çözüm üretin</a:t>
            </a:r>
            <a:endParaRPr lang="en-US" sz="1350" dirty="0"/>
          </a:p>
        </p:txBody>
      </p:sp>
      <p:sp>
        <p:nvSpPr>
          <p:cNvPr id="11" name="Shape 9"/>
          <p:cNvSpPr/>
          <p:nvPr/>
        </p:nvSpPr>
        <p:spPr>
          <a:xfrm>
            <a:off x="8138160" y="1691640"/>
            <a:ext cx="3520440" cy="2651760"/>
          </a:xfrm>
          <a:prstGeom prst="roundRect">
            <a:avLst>
              <a:gd name="adj" fmla="val 4138"/>
            </a:avLst>
          </a:prstGeom>
          <a:solidFill>
            <a:srgbClr val="0C5A47"/>
          </a:solidFill>
          <a:ln/>
        </p:spPr>
      </p:sp>
      <p:sp>
        <p:nvSpPr>
          <p:cNvPr id="12" name="Text 10"/>
          <p:cNvSpPr txBox="1"/>
          <p:nvPr/>
        </p:nvSpPr>
        <p:spPr>
          <a:xfrm>
            <a:off x="8366760" y="1965960"/>
            <a:ext cx="3063240"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Mentorluk</a:t>
            </a:r>
            <a:endParaRPr lang="en-US" sz="1800" dirty="0"/>
          </a:p>
        </p:txBody>
      </p:sp>
      <p:sp>
        <p:nvSpPr>
          <p:cNvPr id="13" name="Text 11"/>
          <p:cNvSpPr txBox="1"/>
          <p:nvPr/>
        </p:nvSpPr>
        <p:spPr>
          <a:xfrm>
            <a:off x="8366760" y="2606040"/>
            <a:ext cx="3063240" cy="1554480"/>
          </a:xfrm>
          <a:prstGeom prst="rect">
            <a:avLst/>
          </a:prstGeom>
          <a:noFill/>
          <a:ln/>
        </p:spPr>
        <p:txBody>
          <a:bodyPr wrap="square" lIns="0" tIns="0" rIns="0" bIns="0" rtlCol="0" anchor="ctr"/>
          <a:lstStyle/>
          <a:p>
            <a:pPr indent="0" marL="0">
              <a:lnSpc>
                <a:spcPct val="130000"/>
              </a:lnSpc>
              <a:buNone/>
            </a:pPr>
            <a:r>
              <a:rPr lang="en-US" sz="1350" dirty="0">
                <a:solidFill>
                  <a:srgbClr val="FFFFFF"/>
                </a:solidFill>
                <a:latin typeface="Calibri" pitchFamily="34" charset="0"/>
                <a:ea typeface="Calibri" pitchFamily="34" charset="-122"/>
                <a:cs typeface="Calibri" pitchFamily="34" charset="-120"/>
              </a:rPr>
              <a:t>İleri seviye modüllerde öğrencilere birebir geri bildirim ve yönlendirme sağlayın</a:t>
            </a:r>
            <a:endParaRPr lang="en-US" sz="1350" dirty="0"/>
          </a:p>
        </p:txBody>
      </p:sp>
      <p:sp>
        <p:nvSpPr>
          <p:cNvPr id="14" name="Shape 12"/>
          <p:cNvSpPr/>
          <p:nvPr/>
        </p:nvSpPr>
        <p:spPr>
          <a:xfrm>
            <a:off x="548640" y="4572000"/>
            <a:ext cx="11064240" cy="1325880"/>
          </a:xfrm>
          <a:prstGeom prst="roundRect">
            <a:avLst>
              <a:gd name="adj" fmla="val 8276"/>
            </a:avLst>
          </a:prstGeom>
          <a:solidFill>
            <a:srgbClr val="E1F5EE"/>
          </a:solidFill>
          <a:ln/>
        </p:spPr>
      </p:sp>
      <p:sp>
        <p:nvSpPr>
          <p:cNvPr id="15" name="Text 13"/>
          <p:cNvSpPr txBox="1"/>
          <p:nvPr/>
        </p:nvSpPr>
        <p:spPr>
          <a:xfrm>
            <a:off x="822960" y="4754880"/>
            <a:ext cx="5486400" cy="365760"/>
          </a:xfrm>
          <a:prstGeom prst="rect">
            <a:avLst/>
          </a:prstGeom>
          <a:noFill/>
          <a:ln/>
        </p:spPr>
        <p:txBody>
          <a:bodyPr wrap="square" lIns="0" tIns="0" rIns="0" bIns="0" rtlCol="0" anchor="ctr"/>
          <a:lstStyle/>
          <a:p>
            <a:pPr indent="0" marL="0">
              <a:buNone/>
            </a:pPr>
            <a:r>
              <a:rPr lang="en-US" sz="1400" b="1" dirty="0">
                <a:solidFill>
                  <a:srgbClr val="0F6E56"/>
                </a:solidFill>
                <a:latin typeface="Cambria" pitchFamily="34" charset="0"/>
                <a:ea typeface="Cambria" pitchFamily="34" charset="-122"/>
                <a:cs typeface="Cambria" pitchFamily="34" charset="-120"/>
              </a:rPr>
              <a:t>Esneklik önceliğimiz</a:t>
            </a:r>
            <a:endParaRPr lang="en-US" sz="1400" dirty="0"/>
          </a:p>
        </p:txBody>
      </p:sp>
      <p:sp>
        <p:nvSpPr>
          <p:cNvPr id="16" name="Text 14"/>
          <p:cNvSpPr txBox="1"/>
          <p:nvPr/>
        </p:nvSpPr>
        <p:spPr>
          <a:xfrm>
            <a:off x="822960" y="5120640"/>
            <a:ext cx="10515600" cy="685800"/>
          </a:xfrm>
          <a:prstGeom prst="rect">
            <a:avLst/>
          </a:prstGeom>
          <a:noFill/>
          <a:ln/>
        </p:spPr>
        <p:txBody>
          <a:bodyPr wrap="square" lIns="0" tIns="0" rIns="0" bIns="0" rtlCol="0" anchor="ctr"/>
          <a:lstStyle/>
          <a:p>
            <a:pPr indent="0" marL="0">
              <a:lnSpc>
                <a:spcPct val="130000"/>
              </a:lnSpc>
              <a:buNone/>
            </a:pPr>
            <a:r>
              <a:rPr lang="en-US" sz="1300" dirty="0">
                <a:solidFill>
                  <a:srgbClr val="1A2E28"/>
                </a:solidFill>
                <a:latin typeface="Calibri" pitchFamily="34" charset="0"/>
                <a:ea typeface="Calibri" pitchFamily="34" charset="-122"/>
                <a:cs typeface="Calibri" pitchFamily="34" charset="-120"/>
              </a:rPr>
              <a:t>Katkı biçimi, gönüllülük esasına göre ve katılımcının uygunluğuna göre şekillenir — küçük bir katkı bile projeye değer katar.</a:t>
            </a:r>
            <a:endParaRPr lang="en-US" sz="1300" dirty="0"/>
          </a:p>
        </p:txBody>
      </p:sp>
      <p:sp>
        <p:nvSpPr>
          <p:cNvPr id="17" name="Text 15"/>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F6E68"/>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6E56"/>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6FC9AE"/>
                </a:solidFill>
                <a:latin typeface="Calibri" pitchFamily="34" charset="0"/>
                <a:ea typeface="Calibri" pitchFamily="34" charset="-122"/>
                <a:cs typeface="Calibri" pitchFamily="34" charset="-120"/>
              </a:rPr>
              <a:t>K A Z A N I M L A R</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Katılan kuruluşlar için kazanımlar</a:t>
            </a:r>
            <a:endParaRPr lang="en-US" sz="3000" dirty="0"/>
          </a:p>
        </p:txBody>
      </p:sp>
      <p:sp>
        <p:nvSpPr>
          <p:cNvPr id="4" name="Shape 2"/>
          <p:cNvSpPr/>
          <p:nvPr/>
        </p:nvSpPr>
        <p:spPr>
          <a:xfrm>
            <a:off x="548640" y="1280160"/>
            <a:ext cx="11064240" cy="18288"/>
          </a:xfrm>
          <a:prstGeom prst="rect">
            <a:avLst/>
          </a:prstGeom>
          <a:solidFill>
            <a:srgbClr val="1E8C74"/>
          </a:solidFill>
          <a:ln/>
        </p:spPr>
      </p:sp>
      <p:sp>
        <p:nvSpPr>
          <p:cNvPr id="5" name="Shape 3"/>
          <p:cNvSpPr/>
          <p:nvPr/>
        </p:nvSpPr>
        <p:spPr>
          <a:xfrm>
            <a:off x="548640" y="1600200"/>
            <a:ext cx="11064240" cy="4114800"/>
          </a:xfrm>
          <a:prstGeom prst="roundRect">
            <a:avLst>
              <a:gd name="adj" fmla="val 2667"/>
            </a:avLst>
          </a:prstGeom>
          <a:solidFill>
            <a:srgbClr val="0C5A47"/>
          </a:solidFill>
          <a:ln/>
        </p:spPr>
      </p:sp>
      <p:sp>
        <p:nvSpPr>
          <p:cNvPr id="6" name="Shape 4"/>
          <p:cNvSpPr/>
          <p:nvPr/>
        </p:nvSpPr>
        <p:spPr>
          <a:xfrm>
            <a:off x="914400" y="1920240"/>
            <a:ext cx="4846320" cy="1371600"/>
          </a:xfrm>
          <a:prstGeom prst="roundRect">
            <a:avLst>
              <a:gd name="adj" fmla="val 6667"/>
            </a:avLst>
          </a:prstGeom>
          <a:solidFill>
            <a:srgbClr val="0F6E56"/>
          </a:solidFill>
          <a:ln/>
        </p:spPr>
      </p:sp>
      <p:sp>
        <p:nvSpPr>
          <p:cNvPr id="7" name="Text 5"/>
          <p:cNvSpPr txBox="1"/>
          <p:nvPr/>
        </p:nvSpPr>
        <p:spPr>
          <a:xfrm>
            <a:off x="1143000" y="2103120"/>
            <a:ext cx="4389120" cy="1005840"/>
          </a:xfrm>
          <a:prstGeom prst="rect">
            <a:avLst/>
          </a:prstGeom>
          <a:noFill/>
          <a:ln/>
        </p:spPr>
        <p:txBody>
          <a:bodyPr wrap="square" lIns="0" tIns="0" rIns="0" bIns="0" rtlCol="0" anchor="ctr"/>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Kurumsal itibar — sürdürülebilirlik ve toplumsal katkı vitrini</a:t>
            </a:r>
            <a:endParaRPr lang="en-US" sz="1400" dirty="0"/>
          </a:p>
        </p:txBody>
      </p:sp>
      <p:sp>
        <p:nvSpPr>
          <p:cNvPr id="8" name="Shape 6"/>
          <p:cNvSpPr/>
          <p:nvPr/>
        </p:nvSpPr>
        <p:spPr>
          <a:xfrm>
            <a:off x="6217920" y="1920240"/>
            <a:ext cx="4846320" cy="1371600"/>
          </a:xfrm>
          <a:prstGeom prst="roundRect">
            <a:avLst>
              <a:gd name="adj" fmla="val 6667"/>
            </a:avLst>
          </a:prstGeom>
          <a:solidFill>
            <a:srgbClr val="0F6E56"/>
          </a:solidFill>
          <a:ln/>
        </p:spPr>
      </p:sp>
      <p:sp>
        <p:nvSpPr>
          <p:cNvPr id="9" name="Text 7"/>
          <p:cNvSpPr txBox="1"/>
          <p:nvPr/>
        </p:nvSpPr>
        <p:spPr>
          <a:xfrm>
            <a:off x="6446520" y="2103120"/>
            <a:ext cx="4389120" cy="1005840"/>
          </a:xfrm>
          <a:prstGeom prst="rect">
            <a:avLst/>
          </a:prstGeom>
          <a:noFill/>
          <a:ln/>
        </p:spPr>
        <p:txBody>
          <a:bodyPr wrap="square" lIns="0" tIns="0" rIns="0" bIns="0" rtlCol="0" anchor="ctr"/>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Üniversite ile doğrudan işbirliği ve Ar-Ge bağlantısı</a:t>
            </a:r>
            <a:endParaRPr lang="en-US" sz="1400" dirty="0"/>
          </a:p>
        </p:txBody>
      </p:sp>
      <p:sp>
        <p:nvSpPr>
          <p:cNvPr id="10" name="Shape 8"/>
          <p:cNvSpPr/>
          <p:nvPr/>
        </p:nvSpPr>
        <p:spPr>
          <a:xfrm>
            <a:off x="914400" y="3657600"/>
            <a:ext cx="4846320" cy="1371600"/>
          </a:xfrm>
          <a:prstGeom prst="roundRect">
            <a:avLst>
              <a:gd name="adj" fmla="val 6667"/>
            </a:avLst>
          </a:prstGeom>
          <a:solidFill>
            <a:srgbClr val="0F6E56"/>
          </a:solidFill>
          <a:ln/>
        </p:spPr>
      </p:sp>
      <p:sp>
        <p:nvSpPr>
          <p:cNvPr id="11" name="Text 9"/>
          <p:cNvSpPr txBox="1"/>
          <p:nvPr/>
        </p:nvSpPr>
        <p:spPr>
          <a:xfrm>
            <a:off x="1143000" y="3840480"/>
            <a:ext cx="4389120" cy="1005840"/>
          </a:xfrm>
          <a:prstGeom prst="rect">
            <a:avLst/>
          </a:prstGeom>
          <a:noFill/>
          <a:ln/>
        </p:spPr>
        <p:txBody>
          <a:bodyPr wrap="square" lIns="0" tIns="0" rIns="0" bIns="0" rtlCol="0" anchor="ctr"/>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Geleceğin işgücüyle erken tanışma — staj ve istihdam fırsatları</a:t>
            </a:r>
            <a:endParaRPr lang="en-US" sz="1400" dirty="0"/>
          </a:p>
        </p:txBody>
      </p:sp>
      <p:sp>
        <p:nvSpPr>
          <p:cNvPr id="12" name="Shape 10"/>
          <p:cNvSpPr/>
          <p:nvPr/>
        </p:nvSpPr>
        <p:spPr>
          <a:xfrm>
            <a:off x="6217920" y="3657600"/>
            <a:ext cx="4846320" cy="1371600"/>
          </a:xfrm>
          <a:prstGeom prst="roundRect">
            <a:avLst>
              <a:gd name="adj" fmla="val 6667"/>
            </a:avLst>
          </a:prstGeom>
          <a:solidFill>
            <a:srgbClr val="0F6E56"/>
          </a:solidFill>
          <a:ln/>
        </p:spPr>
      </p:sp>
      <p:sp>
        <p:nvSpPr>
          <p:cNvPr id="13" name="Text 11"/>
          <p:cNvSpPr txBox="1"/>
          <p:nvPr/>
        </p:nvSpPr>
        <p:spPr>
          <a:xfrm>
            <a:off x="6446520" y="3840480"/>
            <a:ext cx="4389120" cy="1005840"/>
          </a:xfrm>
          <a:prstGeom prst="rect">
            <a:avLst/>
          </a:prstGeom>
          <a:noFill/>
          <a:ln/>
        </p:spPr>
        <p:txBody>
          <a:bodyPr wrap="square" lIns="0" tIns="0" rIns="0" bIns="0" rtlCol="0" anchor="ctr"/>
          <a:lstStyle/>
          <a:p>
            <a:pPr indent="0" marL="0">
              <a:lnSpc>
                <a:spcPct val="125000"/>
              </a:lnSpc>
              <a:buNone/>
            </a:pPr>
            <a:r>
              <a:rPr lang="en-US" sz="1400" dirty="0">
                <a:solidFill>
                  <a:srgbClr val="FFFFFF"/>
                </a:solidFill>
                <a:latin typeface="Calibri" pitchFamily="34" charset="0"/>
                <a:ea typeface="Calibri" pitchFamily="34" charset="-122"/>
                <a:cs typeface="Calibri" pitchFamily="34" charset="-120"/>
              </a:rPr>
              <a:t>Yeşil enerji ve çevre hedeflerine somut katkı</a:t>
            </a:r>
            <a:endParaRPr lang="en-US" sz="1400" dirty="0"/>
          </a:p>
        </p:txBody>
      </p:sp>
      <p:sp>
        <p:nvSpPr>
          <p:cNvPr id="14" name="Text 12"/>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AFE3D4"/>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164592"/>
            <a:ext cx="10058400" cy="274320"/>
          </a:xfrm>
          <a:prstGeom prst="rect">
            <a:avLst/>
          </a:prstGeom>
          <a:noFill/>
          <a:ln/>
        </p:spPr>
        <p:txBody>
          <a:bodyPr wrap="square" lIns="0" tIns="0" rIns="0" bIns="0" rtlCol="0" anchor="ctr"/>
          <a:lstStyle/>
          <a:p>
            <a:pPr indent="0" marL="0">
              <a:buNone/>
            </a:pPr>
            <a:r>
              <a:rPr lang="en-US" sz="1100" spc="200" kern="0" dirty="0">
                <a:solidFill>
                  <a:srgbClr val="0F6E56"/>
                </a:solidFill>
                <a:latin typeface="Calibri" pitchFamily="34" charset="0"/>
                <a:ea typeface="Calibri" pitchFamily="34" charset="-122"/>
                <a:cs typeface="Calibri" pitchFamily="34" charset="-120"/>
              </a:rPr>
              <a:t>Y O L   H A R İ T A S I</a:t>
            </a:r>
            <a:endParaRPr lang="en-US" sz="1100" dirty="0"/>
          </a:p>
        </p:txBody>
      </p:sp>
      <p:sp>
        <p:nvSpPr>
          <p:cNvPr id="3" name="Text 1"/>
          <p:cNvSpPr txBox="1"/>
          <p:nvPr/>
        </p:nvSpPr>
        <p:spPr>
          <a:xfrm>
            <a:off x="548640" y="566928"/>
            <a:ext cx="10698480" cy="731520"/>
          </a:xfrm>
          <a:prstGeom prst="rect">
            <a:avLst/>
          </a:prstGeom>
          <a:noFill/>
          <a:ln/>
        </p:spPr>
        <p:txBody>
          <a:bodyPr wrap="square" lIns="0" tIns="0" rIns="0" bIns="0" rtlCol="0" anchor="ctr"/>
          <a:lstStyle/>
          <a:p>
            <a:pPr indent="0" marL="0">
              <a:buNone/>
            </a:pPr>
            <a:r>
              <a:rPr lang="en-US" sz="3000" b="1" dirty="0">
                <a:solidFill>
                  <a:srgbClr val="1A2E28"/>
                </a:solidFill>
                <a:latin typeface="Cambria" pitchFamily="34" charset="0"/>
                <a:ea typeface="Cambria" pitchFamily="34" charset="-122"/>
                <a:cs typeface="Cambria" pitchFamily="34" charset="-120"/>
              </a:rPr>
              <a:t>Faz 2 nasıl ilerleyecek?</a:t>
            </a:r>
            <a:endParaRPr lang="en-US" sz="3000" dirty="0"/>
          </a:p>
        </p:txBody>
      </p:sp>
      <p:sp>
        <p:nvSpPr>
          <p:cNvPr id="4" name="Shape 2"/>
          <p:cNvSpPr/>
          <p:nvPr/>
        </p:nvSpPr>
        <p:spPr>
          <a:xfrm>
            <a:off x="548640" y="1280160"/>
            <a:ext cx="11064240" cy="18288"/>
          </a:xfrm>
          <a:prstGeom prst="rect">
            <a:avLst/>
          </a:prstGeom>
          <a:solidFill>
            <a:srgbClr val="E1F5EE"/>
          </a:solidFill>
          <a:ln/>
        </p:spPr>
      </p:sp>
      <p:sp>
        <p:nvSpPr>
          <p:cNvPr id="5" name="Shape 3"/>
          <p:cNvSpPr/>
          <p:nvPr/>
        </p:nvSpPr>
        <p:spPr>
          <a:xfrm>
            <a:off x="548640" y="1737360"/>
            <a:ext cx="2514600" cy="3017520"/>
          </a:xfrm>
          <a:prstGeom prst="roundRect">
            <a:avLst>
              <a:gd name="adj" fmla="val 3636"/>
            </a:avLst>
          </a:prstGeom>
          <a:solidFill>
            <a:srgbClr val="0F6E56"/>
          </a:solidFill>
          <a:ln/>
        </p:spPr>
      </p:sp>
      <p:sp>
        <p:nvSpPr>
          <p:cNvPr id="6" name="Text 4"/>
          <p:cNvSpPr txBox="1"/>
          <p:nvPr/>
        </p:nvSpPr>
        <p:spPr>
          <a:xfrm>
            <a:off x="731520" y="1920240"/>
            <a:ext cx="73152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txBox="1"/>
          <p:nvPr/>
        </p:nvSpPr>
        <p:spPr>
          <a:xfrm>
            <a:off x="731520" y="2606040"/>
            <a:ext cx="2148840" cy="640080"/>
          </a:xfrm>
          <a:prstGeom prst="rect">
            <a:avLst/>
          </a:prstGeom>
          <a:noFill/>
          <a:ln/>
        </p:spPr>
        <p:txBody>
          <a:bodyPr wrap="square" lIns="0" tIns="0" rIns="0" bIns="0" rtlCol="0" anchor="ctr"/>
          <a:lstStyle/>
          <a:p>
            <a:pPr indent="0" marL="0">
              <a:lnSpc>
                <a:spcPct val="110000"/>
              </a:lnSpc>
              <a:buNone/>
            </a:pPr>
            <a:r>
              <a:rPr lang="en-US" sz="1550" b="1" dirty="0">
                <a:solidFill>
                  <a:srgbClr val="FFFFFF"/>
                </a:solidFill>
                <a:latin typeface="Cambria" pitchFamily="34" charset="0"/>
                <a:ea typeface="Cambria" pitchFamily="34" charset="-122"/>
                <a:cs typeface="Cambria" pitchFamily="34" charset="-120"/>
              </a:rPr>
              <a:t>Faz 1 tamamlanır</a:t>
            </a:r>
            <a:endParaRPr lang="en-US" sz="1550" dirty="0"/>
          </a:p>
        </p:txBody>
      </p:sp>
      <p:sp>
        <p:nvSpPr>
          <p:cNvPr id="8" name="Text 6"/>
          <p:cNvSpPr txBox="1"/>
          <p:nvPr/>
        </p:nvSpPr>
        <p:spPr>
          <a:xfrm>
            <a:off x="731520" y="3291840"/>
            <a:ext cx="2148840" cy="13716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Bilişim Fakültesi pilotu ve üniversite geneli yaygınlaştırma</a:t>
            </a:r>
            <a:endParaRPr lang="en-US" sz="1200" dirty="0"/>
          </a:p>
        </p:txBody>
      </p:sp>
      <p:sp>
        <p:nvSpPr>
          <p:cNvPr id="9" name="Shape 7"/>
          <p:cNvSpPr/>
          <p:nvPr/>
        </p:nvSpPr>
        <p:spPr>
          <a:xfrm>
            <a:off x="3081528" y="3063240"/>
            <a:ext cx="219456" cy="365760"/>
          </a:xfrm>
          <a:prstGeom prst="chevron">
            <a:avLst/>
          </a:prstGeom>
          <a:solidFill>
            <a:srgbClr val="5F6E68"/>
          </a:solidFill>
          <a:ln/>
        </p:spPr>
      </p:sp>
      <p:sp>
        <p:nvSpPr>
          <p:cNvPr id="10" name="Shape 8"/>
          <p:cNvSpPr/>
          <p:nvPr/>
        </p:nvSpPr>
        <p:spPr>
          <a:xfrm>
            <a:off x="3319272" y="1737360"/>
            <a:ext cx="2514600" cy="3017520"/>
          </a:xfrm>
          <a:prstGeom prst="roundRect">
            <a:avLst>
              <a:gd name="adj" fmla="val 3636"/>
            </a:avLst>
          </a:prstGeom>
          <a:solidFill>
            <a:srgbClr val="02C39A"/>
          </a:solidFill>
          <a:ln/>
        </p:spPr>
      </p:sp>
      <p:sp>
        <p:nvSpPr>
          <p:cNvPr id="11" name="Text 9"/>
          <p:cNvSpPr txBox="1"/>
          <p:nvPr/>
        </p:nvSpPr>
        <p:spPr>
          <a:xfrm>
            <a:off x="3502152" y="1920240"/>
            <a:ext cx="73152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txBox="1"/>
          <p:nvPr/>
        </p:nvSpPr>
        <p:spPr>
          <a:xfrm>
            <a:off x="3502152" y="2606040"/>
            <a:ext cx="2148840" cy="640080"/>
          </a:xfrm>
          <a:prstGeom prst="rect">
            <a:avLst/>
          </a:prstGeom>
          <a:noFill/>
          <a:ln/>
        </p:spPr>
        <p:txBody>
          <a:bodyPr wrap="square" lIns="0" tIns="0" rIns="0" bIns="0" rtlCol="0" anchor="ctr"/>
          <a:lstStyle/>
          <a:p>
            <a:pPr indent="0" marL="0">
              <a:lnSpc>
                <a:spcPct val="110000"/>
              </a:lnSpc>
              <a:buNone/>
            </a:pPr>
            <a:r>
              <a:rPr lang="en-US" sz="1550" b="1" dirty="0">
                <a:solidFill>
                  <a:srgbClr val="FFFFFF"/>
                </a:solidFill>
                <a:latin typeface="Cambria" pitchFamily="34" charset="0"/>
                <a:ea typeface="Cambria" pitchFamily="34" charset="-122"/>
                <a:cs typeface="Cambria" pitchFamily="34" charset="-120"/>
              </a:rPr>
              <a:t>Paydaş görüşmeleri</a:t>
            </a:r>
            <a:endParaRPr lang="en-US" sz="1550" dirty="0"/>
          </a:p>
        </p:txBody>
      </p:sp>
      <p:sp>
        <p:nvSpPr>
          <p:cNvPr id="13" name="Text 11"/>
          <p:cNvSpPr txBox="1"/>
          <p:nvPr/>
        </p:nvSpPr>
        <p:spPr>
          <a:xfrm>
            <a:off x="3502152" y="3291840"/>
            <a:ext cx="2148840" cy="13716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Rüzgar enerjisi şirketleri, fabrikalar, belediyelerle ön temas</a:t>
            </a:r>
            <a:endParaRPr lang="en-US" sz="1200" dirty="0"/>
          </a:p>
        </p:txBody>
      </p:sp>
      <p:sp>
        <p:nvSpPr>
          <p:cNvPr id="14" name="Shape 12"/>
          <p:cNvSpPr/>
          <p:nvPr/>
        </p:nvSpPr>
        <p:spPr>
          <a:xfrm>
            <a:off x="5852160" y="3063240"/>
            <a:ext cx="219456" cy="365760"/>
          </a:xfrm>
          <a:prstGeom prst="chevron">
            <a:avLst/>
          </a:prstGeom>
          <a:solidFill>
            <a:srgbClr val="5F6E68"/>
          </a:solidFill>
          <a:ln/>
        </p:spPr>
      </p:sp>
      <p:sp>
        <p:nvSpPr>
          <p:cNvPr id="15" name="Shape 13"/>
          <p:cNvSpPr/>
          <p:nvPr/>
        </p:nvSpPr>
        <p:spPr>
          <a:xfrm>
            <a:off x="6089904" y="1737360"/>
            <a:ext cx="2514600" cy="3017520"/>
          </a:xfrm>
          <a:prstGeom prst="roundRect">
            <a:avLst>
              <a:gd name="adj" fmla="val 3636"/>
            </a:avLst>
          </a:prstGeom>
          <a:solidFill>
            <a:srgbClr val="0F6E56"/>
          </a:solidFill>
          <a:ln/>
        </p:spPr>
      </p:sp>
      <p:sp>
        <p:nvSpPr>
          <p:cNvPr id="16" name="Text 14"/>
          <p:cNvSpPr txBox="1"/>
          <p:nvPr/>
        </p:nvSpPr>
        <p:spPr>
          <a:xfrm>
            <a:off x="6272784" y="1920240"/>
            <a:ext cx="73152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7" name="Text 15"/>
          <p:cNvSpPr txBox="1"/>
          <p:nvPr/>
        </p:nvSpPr>
        <p:spPr>
          <a:xfrm>
            <a:off x="6272784" y="2606040"/>
            <a:ext cx="2148840" cy="640080"/>
          </a:xfrm>
          <a:prstGeom prst="rect">
            <a:avLst/>
          </a:prstGeom>
          <a:noFill/>
          <a:ln/>
        </p:spPr>
        <p:txBody>
          <a:bodyPr wrap="square" lIns="0" tIns="0" rIns="0" bIns="0" rtlCol="0" anchor="ctr"/>
          <a:lstStyle/>
          <a:p>
            <a:pPr indent="0" marL="0">
              <a:lnSpc>
                <a:spcPct val="110000"/>
              </a:lnSpc>
              <a:buNone/>
            </a:pPr>
            <a:r>
              <a:rPr lang="en-US" sz="1550" b="1" dirty="0">
                <a:solidFill>
                  <a:srgbClr val="FFFFFF"/>
                </a:solidFill>
                <a:latin typeface="Cambria" pitchFamily="34" charset="0"/>
                <a:ea typeface="Cambria" pitchFamily="34" charset="-122"/>
                <a:cs typeface="Cambria" pitchFamily="34" charset="-120"/>
              </a:rPr>
              <a:t>Pilot işbirlikleri</a:t>
            </a:r>
            <a:endParaRPr lang="en-US" sz="1550" dirty="0"/>
          </a:p>
        </p:txBody>
      </p:sp>
      <p:sp>
        <p:nvSpPr>
          <p:cNvPr id="18" name="Text 16"/>
          <p:cNvSpPr txBox="1"/>
          <p:nvPr/>
        </p:nvSpPr>
        <p:spPr>
          <a:xfrm>
            <a:off x="6272784" y="3291840"/>
            <a:ext cx="2148840" cy="13716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İlk gönüllü kuruluşlarla küçük ölçekli katkı denemeleri</a:t>
            </a:r>
            <a:endParaRPr lang="en-US" sz="1200" dirty="0"/>
          </a:p>
        </p:txBody>
      </p:sp>
      <p:sp>
        <p:nvSpPr>
          <p:cNvPr id="19" name="Shape 17"/>
          <p:cNvSpPr/>
          <p:nvPr/>
        </p:nvSpPr>
        <p:spPr>
          <a:xfrm>
            <a:off x="8622792" y="3063240"/>
            <a:ext cx="219456" cy="365760"/>
          </a:xfrm>
          <a:prstGeom prst="chevron">
            <a:avLst/>
          </a:prstGeom>
          <a:solidFill>
            <a:srgbClr val="5F6E68"/>
          </a:solidFill>
          <a:ln/>
        </p:spPr>
      </p:sp>
      <p:sp>
        <p:nvSpPr>
          <p:cNvPr id="20" name="Shape 18"/>
          <p:cNvSpPr/>
          <p:nvPr/>
        </p:nvSpPr>
        <p:spPr>
          <a:xfrm>
            <a:off x="8860536" y="1737360"/>
            <a:ext cx="2514600" cy="3017520"/>
          </a:xfrm>
          <a:prstGeom prst="roundRect">
            <a:avLst>
              <a:gd name="adj" fmla="val 3636"/>
            </a:avLst>
          </a:prstGeom>
          <a:solidFill>
            <a:srgbClr val="02C39A"/>
          </a:solidFill>
          <a:ln/>
        </p:spPr>
      </p:sp>
      <p:sp>
        <p:nvSpPr>
          <p:cNvPr id="21" name="Text 19"/>
          <p:cNvSpPr txBox="1"/>
          <p:nvPr/>
        </p:nvSpPr>
        <p:spPr>
          <a:xfrm>
            <a:off x="9043416" y="1920240"/>
            <a:ext cx="731520" cy="64008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4</a:t>
            </a:r>
            <a:endParaRPr lang="en-US" sz="2400" dirty="0"/>
          </a:p>
        </p:txBody>
      </p:sp>
      <p:sp>
        <p:nvSpPr>
          <p:cNvPr id="22" name="Text 20"/>
          <p:cNvSpPr txBox="1"/>
          <p:nvPr/>
        </p:nvSpPr>
        <p:spPr>
          <a:xfrm>
            <a:off x="9043416" y="2606040"/>
            <a:ext cx="2148840" cy="640080"/>
          </a:xfrm>
          <a:prstGeom prst="rect">
            <a:avLst/>
          </a:prstGeom>
          <a:noFill/>
          <a:ln/>
        </p:spPr>
        <p:txBody>
          <a:bodyPr wrap="square" lIns="0" tIns="0" rIns="0" bIns="0" rtlCol="0" anchor="ctr"/>
          <a:lstStyle/>
          <a:p>
            <a:pPr indent="0" marL="0">
              <a:lnSpc>
                <a:spcPct val="110000"/>
              </a:lnSpc>
              <a:buNone/>
            </a:pPr>
            <a:r>
              <a:rPr lang="en-US" sz="1550" b="1" dirty="0">
                <a:solidFill>
                  <a:srgbClr val="FFFFFF"/>
                </a:solidFill>
                <a:latin typeface="Cambria" pitchFamily="34" charset="0"/>
                <a:ea typeface="Cambria" pitchFamily="34" charset="-122"/>
                <a:cs typeface="Cambria" pitchFamily="34" charset="-120"/>
              </a:rPr>
              <a:t>Şehir ağı</a:t>
            </a:r>
            <a:endParaRPr lang="en-US" sz="1550" dirty="0"/>
          </a:p>
        </p:txBody>
      </p:sp>
      <p:sp>
        <p:nvSpPr>
          <p:cNvPr id="23" name="Text 21"/>
          <p:cNvSpPr txBox="1"/>
          <p:nvPr/>
        </p:nvSpPr>
        <p:spPr>
          <a:xfrm>
            <a:off x="9043416" y="3291840"/>
            <a:ext cx="2148840" cy="1371600"/>
          </a:xfrm>
          <a:prstGeom prst="rect">
            <a:avLst/>
          </a:prstGeom>
          <a:noFill/>
          <a:ln/>
        </p:spPr>
        <p:txBody>
          <a:bodyPr wrap="square" lIns="0" tIns="0" rIns="0" bIns="0" rtlCol="0" anchor="ctr"/>
          <a:lstStyle/>
          <a:p>
            <a:pPr indent="0" marL="0">
              <a:lnSpc>
                <a:spcPct val="125000"/>
              </a:lnSpc>
              <a:buNone/>
            </a:pPr>
            <a:r>
              <a:rPr lang="en-US" sz="1200" dirty="0">
                <a:solidFill>
                  <a:srgbClr val="FFFFFF"/>
                </a:solidFill>
                <a:latin typeface="Calibri" pitchFamily="34" charset="0"/>
                <a:ea typeface="Calibri" pitchFamily="34" charset="-122"/>
                <a:cs typeface="Calibri" pitchFamily="34" charset="-120"/>
              </a:rPr>
              <a:t>Go to Ant'e Katkı Sağla ağının resmi olarak genişlemesi</a:t>
            </a:r>
            <a:endParaRPr lang="en-US" sz="1200" dirty="0"/>
          </a:p>
        </p:txBody>
      </p:sp>
      <p:sp>
        <p:nvSpPr>
          <p:cNvPr id="24" name="Text 22"/>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5F6E68"/>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6E56"/>
        </a:solidFill>
      </p:bgPr>
    </p:bg>
    <p:spTree>
      <p:nvGrpSpPr>
        <p:cNvPr id="1" name=""/>
        <p:cNvGrpSpPr/>
        <p:nvPr/>
      </p:nvGrpSpPr>
      <p:grpSpPr>
        <a:xfrm>
          <a:off x="0" y="0"/>
          <a:ext cx="0" cy="0"/>
          <a:chOff x="0" y="0"/>
          <a:chExt cx="0" cy="0"/>
        </a:xfrm>
      </p:grpSpPr>
      <p:pic>
        <p:nvPicPr>
          <p:cNvPr id="2" name="Image 0" descr="ant_logo_white.png">    </p:cNvPr>
          <p:cNvPicPr>
            <a:picLocks noChangeAspect="1"/>
          </p:cNvPicPr>
          <p:nvPr/>
        </p:nvPicPr>
        <p:blipFill>
          <a:blip r:embed="rId1"/>
          <a:stretch>
            <a:fillRect/>
          </a:stretch>
        </p:blipFill>
        <p:spPr>
          <a:xfrm>
            <a:off x="5532120" y="640080"/>
            <a:ext cx="1097280" cy="1097280"/>
          </a:xfrm>
          <a:prstGeom prst="rect">
            <a:avLst/>
          </a:prstGeom>
        </p:spPr>
      </p:pic>
      <p:sp>
        <p:nvSpPr>
          <p:cNvPr id="3" name="Text 0"/>
          <p:cNvSpPr txBox="1"/>
          <p:nvPr/>
        </p:nvSpPr>
        <p:spPr>
          <a:xfrm>
            <a:off x="0" y="1965960"/>
            <a:ext cx="12188952" cy="1371600"/>
          </a:xfrm>
          <a:prstGeom prst="rect">
            <a:avLst/>
          </a:prstGeom>
          <a:noFill/>
          <a:ln/>
        </p:spPr>
        <p:txBody>
          <a:bodyPr wrap="square" lIns="0" tIns="0" rIns="0" bIns="0" rtlCol="0" anchor="ctr"/>
          <a:lstStyle/>
          <a:p>
            <a:pPr algn="ctr" indent="0" marL="0">
              <a:lnSpc>
                <a:spcPct val="120000"/>
              </a:lnSpc>
              <a:buNone/>
            </a:pPr>
            <a:r>
              <a:rPr lang="en-US" sz="3200" b="1" dirty="0">
                <a:solidFill>
                  <a:srgbClr val="FFFFFF"/>
                </a:solidFill>
                <a:latin typeface="Cambria" pitchFamily="34" charset="0"/>
                <a:ea typeface="Cambria" pitchFamily="34" charset="-122"/>
                <a:cs typeface="Cambria" pitchFamily="34" charset="-120"/>
              </a:rPr>
              <a:t>Çanakkale'nin geleceğine</a:t>
            </a:r>
            <a:endParaRPr lang="en-US" sz="3200" dirty="0"/>
          </a:p>
          <a:p>
            <a:pPr algn="ctr" indent="0" marL="0">
              <a:lnSpc>
                <a:spcPct val="120000"/>
              </a:lnSpc>
              <a:buNone/>
            </a:pPr>
            <a:r>
              <a:rPr lang="en-US" sz="3200" b="1" dirty="0">
                <a:solidFill>
                  <a:srgbClr val="FFFFFF"/>
                </a:solidFill>
                <a:latin typeface="Cambria" pitchFamily="34" charset="0"/>
                <a:ea typeface="Cambria" pitchFamily="34" charset="-122"/>
                <a:cs typeface="Cambria" pitchFamily="34" charset="-120"/>
              </a:rPr>
              <a:t>birlikte katkı sağlayalım.</a:t>
            </a:r>
            <a:endParaRPr lang="en-US" sz="3200" dirty="0"/>
          </a:p>
        </p:txBody>
      </p:sp>
      <p:sp>
        <p:nvSpPr>
          <p:cNvPr id="4" name="Text 1"/>
          <p:cNvSpPr txBox="1"/>
          <p:nvPr/>
        </p:nvSpPr>
        <p:spPr>
          <a:xfrm>
            <a:off x="0" y="3520440"/>
            <a:ext cx="12188952" cy="457200"/>
          </a:xfrm>
          <a:prstGeom prst="rect">
            <a:avLst/>
          </a:prstGeom>
          <a:noFill/>
          <a:ln/>
        </p:spPr>
        <p:txBody>
          <a:bodyPr wrap="square" lIns="0" tIns="0" rIns="0" bIns="0" rtlCol="0" anchor="ctr"/>
          <a:lstStyle/>
          <a:p>
            <a:pPr algn="ctr" indent="0" marL="0">
              <a:buNone/>
            </a:pPr>
            <a:r>
              <a:rPr lang="en-US" sz="1500" i="1" dirty="0">
                <a:solidFill>
                  <a:srgbClr val="E1F5EE"/>
                </a:solidFill>
                <a:latin typeface="Calibri" pitchFamily="34" charset="0"/>
                <a:ea typeface="Calibri" pitchFamily="34" charset="-122"/>
                <a:cs typeface="Calibri" pitchFamily="34" charset="-120"/>
              </a:rPr>
              <a:t>Yeşil enerji, yüksek teknoloji ve çevre bilinci için sizi de Go to Ant ailesine bekliyoruz.</a:t>
            </a:r>
            <a:endParaRPr lang="en-US" sz="1500" dirty="0"/>
          </a:p>
        </p:txBody>
      </p:sp>
      <p:sp>
        <p:nvSpPr>
          <p:cNvPr id="5" name="Text 2"/>
          <p:cNvSpPr txBox="1"/>
          <p:nvPr/>
        </p:nvSpPr>
        <p:spPr>
          <a:xfrm>
            <a:off x="0" y="5120640"/>
            <a:ext cx="12188952" cy="365760"/>
          </a:xfrm>
          <a:prstGeom prst="rect">
            <a:avLst/>
          </a:prstGeom>
          <a:noFill/>
          <a:ln/>
        </p:spPr>
        <p:txBody>
          <a:bodyPr wrap="square" lIns="0" tIns="0" rIns="0" bIns="0" rtlCol="0" anchor="ctr"/>
          <a:lstStyle/>
          <a:p>
            <a:pPr algn="ctr" indent="0" marL="0">
              <a:buNone/>
            </a:pPr>
            <a:r>
              <a:rPr lang="en-US" sz="1300" dirty="0">
                <a:solidFill>
                  <a:srgbClr val="AFE3D4"/>
                </a:solidFill>
                <a:latin typeface="Calibri" pitchFamily="34" charset="0"/>
                <a:ea typeface="Calibri" pitchFamily="34" charset="-122"/>
                <a:cs typeface="Calibri" pitchFamily="34" charset="-120"/>
              </a:rPr>
              <a:t>[Ad Soyad]  ·  [E-posta]  ·  [Telefon]</a:t>
            </a:r>
            <a:endParaRPr lang="en-US" sz="1300" dirty="0"/>
          </a:p>
        </p:txBody>
      </p:sp>
      <p:sp>
        <p:nvSpPr>
          <p:cNvPr id="6" name="Text 3"/>
          <p:cNvSpPr txBox="1"/>
          <p:nvPr/>
        </p:nvSpPr>
        <p:spPr>
          <a:xfrm>
            <a:off x="11521440" y="6446520"/>
            <a:ext cx="457200" cy="274320"/>
          </a:xfrm>
          <a:prstGeom prst="rect">
            <a:avLst/>
          </a:prstGeom>
          <a:noFill/>
          <a:ln/>
        </p:spPr>
        <p:txBody>
          <a:bodyPr wrap="square" lIns="0" tIns="0" rIns="0" bIns="0" rtlCol="0" anchor="ctr"/>
          <a:lstStyle/>
          <a:p>
            <a:pPr algn="r" indent="0" marL="0">
              <a:buNone/>
            </a:pPr>
            <a:r>
              <a:rPr lang="en-US" sz="1000" dirty="0">
                <a:solidFill>
                  <a:srgbClr val="AFE3D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2026-08-30T08:02:26Z</dcterms:created>
  <dcterms:modified xsi:type="dcterms:W3CDTF">2026-08-30T08:02:26Z</dcterms:modified>
</cp:coreProperties>
</file>